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4"/>
    <p:sldMasterId id="2147483668" r:id="rId5"/>
    <p:sldMasterId id="2147483674" r:id="rId6"/>
    <p:sldMasterId id="2147483648" r:id="rId7"/>
    <p:sldMasterId id="2147483713" r:id="rId8"/>
    <p:sldMasterId id="2147483684" r:id="rId9"/>
    <p:sldMasterId id="2147483725" r:id="rId10"/>
  </p:sldMasterIdLst>
  <p:notesMasterIdLst>
    <p:notesMasterId r:id="rId37"/>
  </p:notesMasterIdLst>
  <p:handoutMasterIdLst>
    <p:handoutMasterId r:id="rId38"/>
  </p:handoutMasterIdLst>
  <p:sldIdLst>
    <p:sldId id="356" r:id="rId11"/>
    <p:sldId id="361" r:id="rId12"/>
    <p:sldId id="357" r:id="rId13"/>
    <p:sldId id="387" r:id="rId14"/>
    <p:sldId id="388" r:id="rId15"/>
    <p:sldId id="408" r:id="rId16"/>
    <p:sldId id="389" r:id="rId17"/>
    <p:sldId id="390" r:id="rId18"/>
    <p:sldId id="393" r:id="rId19"/>
    <p:sldId id="396" r:id="rId20"/>
    <p:sldId id="392" r:id="rId21"/>
    <p:sldId id="394" r:id="rId22"/>
    <p:sldId id="395" r:id="rId23"/>
    <p:sldId id="397" r:id="rId24"/>
    <p:sldId id="398" r:id="rId25"/>
    <p:sldId id="399" r:id="rId26"/>
    <p:sldId id="409" r:id="rId27"/>
    <p:sldId id="413" r:id="rId28"/>
    <p:sldId id="411" r:id="rId29"/>
    <p:sldId id="400" r:id="rId30"/>
    <p:sldId id="401" r:id="rId31"/>
    <p:sldId id="403" r:id="rId32"/>
    <p:sldId id="404" r:id="rId33"/>
    <p:sldId id="405" r:id="rId34"/>
    <p:sldId id="406" r:id="rId35"/>
    <p:sldId id="407" r:id="rId36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3"/>
    <a:srgbClr val="999999"/>
    <a:srgbClr val="98C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88658" autoAdjust="0"/>
  </p:normalViewPr>
  <p:slideViewPr>
    <p:cSldViewPr>
      <p:cViewPr varScale="1">
        <p:scale>
          <a:sx n="186" d="100"/>
          <a:sy n="186" d="100"/>
        </p:scale>
        <p:origin x="1044" y="150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5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presProps" Target="presProps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23/04/2026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23/04/2026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1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DBE1-731F-BD6C-0CA6-B06853AB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5E1975-0717-86B8-A96C-F20D4B951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EFC744-4389-845F-5193-CEAE087D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AB8053-5785-CD91-DCBB-B89A043C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567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7489" name="Folienbildplatzhalter 1"/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0382776" name="Notizenplatzhalt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de-DE" dirty="0"/>
          </a:p>
        </p:txBody>
      </p:sp>
      <p:sp>
        <p:nvSpPr>
          <p:cNvPr id="1137412971" name="Foliennummernplatzhalter 3"/>
          <p:cNvSpPr txBox="1">
            <a:spLocks noGrp="1"/>
          </p:cNvSpPr>
          <p:nvPr/>
        </p:nvSpPr>
        <p:spPr bwMode="auto">
          <a:xfrm>
            <a:off x="4021294" y="9721107"/>
            <a:ext cx="3076363" cy="5117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>
              <a:defRPr/>
            </a:pPr>
            <a:fld id="{D9B23263-3D9C-4E91-AD33-588525B950A1}" type="slidenum">
              <a:rPr lang="de-DE" sz="1300">
                <a:latin typeface="+mn-lt"/>
              </a:rPr>
              <a:t>4</a:t>
            </a:fld>
            <a:endParaRPr lang="de-DE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97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0756-CCCD-9806-F820-2714F9A18D2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7489" name="Folienbildplatzhalter 1">
            <a:extLst>
              <a:ext uri="{FF2B5EF4-FFF2-40B4-BE49-F238E27FC236}">
                <a16:creationId xmlns:a16="http://schemas.microsoft.com/office/drawing/2014/main" id="{0424697E-A452-5412-CB22-0386F2690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0382776" name="Notizenplatzhalter 2">
            <a:extLst>
              <a:ext uri="{FF2B5EF4-FFF2-40B4-BE49-F238E27FC236}">
                <a16:creationId xmlns:a16="http://schemas.microsoft.com/office/drawing/2014/main" id="{1AE2B6D9-E822-80E5-EF0C-23CAA6FC14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de-DE" dirty="0"/>
          </a:p>
        </p:txBody>
      </p:sp>
      <p:sp>
        <p:nvSpPr>
          <p:cNvPr id="1137412971" name="Foliennummernplatzhalter 3">
            <a:extLst>
              <a:ext uri="{FF2B5EF4-FFF2-40B4-BE49-F238E27FC236}">
                <a16:creationId xmlns:a16="http://schemas.microsoft.com/office/drawing/2014/main" id="{B89F544B-F7A2-E7D5-542A-9A07412B55EB}"/>
              </a:ext>
            </a:extLst>
          </p:cNvPr>
          <p:cNvSpPr txBox="1">
            <a:spLocks noGrp="1"/>
          </p:cNvSpPr>
          <p:nvPr/>
        </p:nvSpPr>
        <p:spPr bwMode="auto">
          <a:xfrm>
            <a:off x="4021294" y="9721107"/>
            <a:ext cx="3076363" cy="5117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>
              <a:defRPr/>
            </a:pPr>
            <a:fld id="{D9B23263-3D9C-4E91-AD33-588525B950A1}" type="slidenum">
              <a:rPr lang="de-DE" sz="1300">
                <a:latin typeface="+mn-lt"/>
              </a:rPr>
              <a:t>5</a:t>
            </a:fld>
            <a:endParaRPr lang="de-DE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7284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FFFA-D020-75E6-4F7F-0254D34372C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7489" name="Folienbildplatzhalter 1">
            <a:extLst>
              <a:ext uri="{FF2B5EF4-FFF2-40B4-BE49-F238E27FC236}">
                <a16:creationId xmlns:a16="http://schemas.microsoft.com/office/drawing/2014/main" id="{565B4054-28EA-E025-0238-624385544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0382776" name="Notizenplatzhalter 2">
            <a:extLst>
              <a:ext uri="{FF2B5EF4-FFF2-40B4-BE49-F238E27FC236}">
                <a16:creationId xmlns:a16="http://schemas.microsoft.com/office/drawing/2014/main" id="{C1D899D4-A38E-69E7-AD41-1B6F3981C7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de-DE" dirty="0"/>
          </a:p>
        </p:txBody>
      </p:sp>
      <p:sp>
        <p:nvSpPr>
          <p:cNvPr id="1137412971" name="Foliennummernplatzhalter 3">
            <a:extLst>
              <a:ext uri="{FF2B5EF4-FFF2-40B4-BE49-F238E27FC236}">
                <a16:creationId xmlns:a16="http://schemas.microsoft.com/office/drawing/2014/main" id="{75F68F01-E985-F771-C9A0-155F44CF9E57}"/>
              </a:ext>
            </a:extLst>
          </p:cNvPr>
          <p:cNvSpPr txBox="1">
            <a:spLocks noGrp="1"/>
          </p:cNvSpPr>
          <p:nvPr/>
        </p:nvSpPr>
        <p:spPr bwMode="auto">
          <a:xfrm>
            <a:off x="4021294" y="9721107"/>
            <a:ext cx="3076363" cy="5117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>
              <a:defRPr/>
            </a:pPr>
            <a:fld id="{D9B23263-3D9C-4E91-AD33-588525B950A1}" type="slidenum">
              <a:rPr lang="de-DE" sz="1300">
                <a:latin typeface="+mn-lt"/>
              </a:rPr>
              <a:t>6</a:t>
            </a:fld>
            <a:endParaRPr lang="de-DE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31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AF98-5CB8-F990-6CE9-E7E422D9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6A0D1F-DF21-C97A-3A85-9D09DBAA7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71DA1F-CBE2-80F3-A4EA-974929E91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84F496-2FDA-D3FE-B972-C460C42EA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444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847C-EBA8-0294-D4EE-0A076399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769EC1-B20F-ECCC-98D3-67A496BCC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8392CA-45F0-9361-D273-ABDCF0677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99AEA0-00B8-E716-4A4C-AB73EA448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278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C8EF-B10C-0F6A-5299-02C0026A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274BDD-8C5F-215C-6E59-0631D29ED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515D49C-F5F7-FA5E-13B0-62D7C887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9F3356-CA89-AA64-A4B8-2D27D7C85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97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ED42-1141-67EE-2BAA-E71E11B6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0CA799-E7A0-53A4-29B0-D6D8249C0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1B348BC-868F-DF84-04D7-C29464F4E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0D35FC-0442-B2CB-F6FF-AAF83DD7C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02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A7A8-8900-8BCE-9050-7416CCF0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F3595D-BC67-2EC6-433B-D57717E4D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0232F1-3D61-4203-D671-19C5CD5A2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50C52A-8587-4CFC-E59F-6B4D43A91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207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ECE4-80D4-851E-F104-EF709AF2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E7D426-D0AB-E48D-2DC4-1B53F82C3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733F2C5-7981-A323-A62C-88F55F2EB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819C8-0C4D-A533-DAF9-7D3FDD9B1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37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753B-672A-B823-96F6-39A713CE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D3965F-C478-7C78-033E-F1EDD2C86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6FDEB5A-4CF9-5141-DAD5-88F3570C9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9EC-A1F8-169B-A63E-B20AB7F06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19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34DE-6999-2AEE-9F77-E0CEED30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CD1ED2-BBFE-3966-8F8B-1EEAEC88A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3B2FA8-D6BE-17D2-0A64-ED300E74D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B0C1D4-727C-34A8-3931-03A4F1515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42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024A-22F5-8C51-F645-99B79BE7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7A715F-A882-D06F-B360-3A614665D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88C2A7-79AD-B05A-4E4B-AA85C04F3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7201DA-D009-308C-609B-91789556E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471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369D-7084-A096-6067-4FFCFEAA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EF85D4-4558-A6FC-C014-6223E55F7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C6F5E8-5B6E-4EDE-0308-9B49D8E00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9757A2-084F-9684-606E-8BE6AD4F4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2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F7DA-C546-7050-BAA3-DEFC27DF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9315798-DA27-85B1-A9FD-1FE05C683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DEA501-7F2D-A757-0C70-FA19E4D8E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47D52C-796C-0D27-76CE-6BB127C1C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10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B66D-A757-998B-DEC5-753A3FB3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8D3026-10A1-82CE-E9A6-1E2CF0BF5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E76A2D-DCC0-0768-424E-6FA81641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38531A-F0D1-ED1E-5AF1-E0DA4CF8F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959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2396D-74D5-AA77-593D-8F11E319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27106D8-EDA3-70BC-1753-C483C95B5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FFA392-FDE0-A860-0871-ABDD2AF8B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9564E4-F837-77F8-E87D-9BD5EB39B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95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Title_WithoutCh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  <p:pic>
        <p:nvPicPr>
          <p:cNvPr id="10" name="Grafik 9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Title_WithoutCh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07275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A11B450-2634-6094-53B2-9124400231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45323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97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‹#›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80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Next Generation Data Center Operations for SAP Enterprise Software </a:t>
            </a:r>
            <a:r>
              <a:rPr lang="de-DE" dirty="0"/>
              <a:t>| </a:t>
            </a:r>
            <a:r>
              <a:rPr lang="en-US" dirty="0"/>
              <a:t>Chair of IS &amp; BPM</a:t>
            </a:r>
          </a:p>
        </p:txBody>
      </p:sp>
    </p:spTree>
    <p:extLst>
      <p:ext uri="{BB962C8B-B14F-4D97-AF65-F5344CB8AC3E}">
        <p14:creationId xmlns:p14="http://schemas.microsoft.com/office/powerpoint/2010/main" val="20802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846076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35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530575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56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5012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97042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20954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934136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039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iteltrenner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3DCD933-4AE9-190B-C8D7-A18BD86DF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638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‹#›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15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iteltrenner_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3" name="Grafik 2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23F2F40-525C-5338-B1EA-CDE07B6107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061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_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44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w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.emf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SAP University Competence Center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Chair for Information Systems and Business Process Management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TUM</a:t>
            </a:r>
            <a:r>
              <a:rPr lang="en-US" sz="800" baseline="0" noProof="0" dirty="0">
                <a:solidFill>
                  <a:schemeClr val="tx2"/>
                </a:solidFill>
                <a:latin typeface="+mn-lt"/>
              </a:rPr>
              <a:t> School of Computation, Information, and Technology</a:t>
            </a:r>
            <a:endParaRPr lang="en-US" sz="800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Technical University of Munich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Next Generation Data Center Operations – 01 Introduction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2" r:id="rId9"/>
    <p:sldLayoutId id="2147483728" r:id="rId10"/>
    <p:sldLayoutId id="2147483730" r:id="rId1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3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29" r:id="rId3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1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965F22C-3F61-B5D6-EB0F-555FC01E21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9089" y="3219822"/>
            <a:ext cx="3244799" cy="430887"/>
          </a:xfrm>
        </p:spPr>
        <p:txBody>
          <a:bodyPr anchor="b"/>
          <a:lstStyle/>
          <a:p>
            <a:r>
              <a:rPr lang="de-DE" dirty="0"/>
              <a:t>Simon Fuchs, Maximilian Niedermeier, Noah Kim, Leon Kist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A193D7-AF45-D747-B775-FE036BEA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1287788"/>
            <a:ext cx="7848873" cy="369332"/>
          </a:xfrm>
        </p:spPr>
        <p:txBody>
          <a:bodyPr/>
          <a:lstStyle/>
          <a:p>
            <a:r>
              <a:rPr lang="en-US" sz="2400" dirty="0"/>
              <a:t>Expectations and Requirements</a:t>
            </a:r>
            <a:endParaRPr lang="de-DE" sz="2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7C0174-FCB7-52F4-2D4F-9FB9D0EA8F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527" y="2006630"/>
            <a:ext cx="4536505" cy="268444"/>
          </a:xfrm>
        </p:spPr>
        <p:txBody>
          <a:bodyPr/>
          <a:lstStyle/>
          <a:p>
            <a:r>
              <a:rPr lang="en-US" dirty="0">
                <a:latin typeface="Calibri"/>
              </a:rPr>
              <a:t>Advanced Practical Course – Next Generation Data Center Operations for SAP Enterprise Software </a:t>
            </a:r>
            <a:br>
              <a:rPr lang="en-US" b="0" dirty="0">
                <a:latin typeface="Calibri"/>
              </a:rPr>
            </a:br>
            <a:r>
              <a:rPr lang="en-US" b="0" dirty="0">
                <a:latin typeface="Calibri"/>
              </a:rPr>
              <a:t>(IN2128, IN2106, IN212810)</a:t>
            </a:r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F6D190-96DE-B3BC-8E87-014D906A06F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noProof="0" dirty="0"/>
              <a:t>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43785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11A2-FA1C-79C2-EB4C-926AAFFD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2EFE8B-F6C9-77A8-C440-FC6BF697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150090-3EDC-4B77-87BD-54A14E26E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Expectations &amp; Requirements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2E59EE-DE06-5C33-2841-2AD2E09C6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Group Phase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Presentations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Project Documentation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3527" y="4758943"/>
            <a:ext cx="6464280" cy="273844"/>
          </a:xfrm>
        </p:spPr>
        <p:txBody>
          <a:bodyPr/>
          <a:lstStyle/>
          <a:p>
            <a:pPr lvl="0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Next Generation Data Center Operations – </a:t>
            </a:r>
            <a:r>
              <a:rPr lang="en-US" dirty="0">
                <a:solidFill>
                  <a:prstClr val="black"/>
                </a:solidFill>
              </a:rPr>
              <a:t>05 Expectations &amp; Requirements 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7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7F9B55-BDF7-4686-90B9-B0AFF17E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Group Phase</a:t>
            </a:r>
          </a:p>
        </p:txBody>
      </p:sp>
    </p:spTree>
    <p:extLst>
      <p:ext uri="{BB962C8B-B14F-4D97-AF65-F5344CB8AC3E}">
        <p14:creationId xmlns:p14="http://schemas.microsoft.com/office/powerpoint/2010/main" val="203315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60541" name="Rectangle 3"/>
          <p:cNvSpPr>
            <a:spLocks noChangeArrowheads="1"/>
          </p:cNvSpPr>
          <p:nvPr/>
        </p:nvSpPr>
        <p:spPr bwMode="auto">
          <a:xfrm>
            <a:off x="1494235" y="789385"/>
            <a:ext cx="6172200" cy="410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buFont typeface="Arial"/>
              <a:buChar char="•"/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</p:txBody>
      </p:sp>
      <p:sp>
        <p:nvSpPr>
          <p:cNvPr id="2" name="Textplatzhalter 1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Group work</a:t>
            </a:r>
          </a:p>
          <a:p>
            <a:pPr lvl="1">
              <a:defRPr/>
            </a:pPr>
            <a:r>
              <a:rPr lang="en-US" dirty="0"/>
              <a:t>Three to Four group members</a:t>
            </a:r>
          </a:p>
          <a:p>
            <a:pPr lvl="1">
              <a:defRPr/>
            </a:pPr>
            <a:r>
              <a:rPr lang="en-US" dirty="0"/>
              <a:t>Define different profiles</a:t>
            </a:r>
          </a:p>
          <a:p>
            <a:pPr lvl="1">
              <a:defRPr/>
            </a:pPr>
            <a:r>
              <a:rPr lang="en-US" dirty="0"/>
              <a:t>Do not think about implementation alone, also about presentation, organization and documentation</a:t>
            </a:r>
          </a:p>
          <a:p>
            <a:pPr lvl="1">
              <a:defRPr/>
            </a:pPr>
            <a:r>
              <a:rPr lang="en-US" dirty="0"/>
              <a:t>Communicate who had which profile and who did what</a:t>
            </a:r>
          </a:p>
          <a:p>
            <a:pPr lvl="1">
              <a:defRPr/>
            </a:pPr>
            <a:r>
              <a:rPr lang="en-US" dirty="0"/>
              <a:t>Everybody has to contribute his/her fair share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8896329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Calibri"/>
              </a:rPr>
              <a:t>Working together</a:t>
            </a:r>
            <a:endParaRPr lang="en-GB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Group Phase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Use standardized solutions/technology </a:t>
            </a:r>
            <a:endParaRPr lang="en-US" b="1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Better a standard solution than a self-crafted</a:t>
            </a: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Existing documentation that you can link to is documentation that you don’t have to write yourselves</a:t>
            </a:r>
            <a:endParaRPr lang="en-US" dirty="0"/>
          </a:p>
          <a:p>
            <a:pPr marL="0" lvl="1" indent="0">
              <a:buNone/>
              <a:defRPr/>
            </a:pPr>
            <a:endParaRPr lang="en-US" b="1" dirty="0"/>
          </a:p>
          <a:p>
            <a:pPr marL="0" lvl="1" indent="0">
              <a:buNone/>
              <a:defRPr/>
            </a:pPr>
            <a:r>
              <a:rPr lang="en-US" b="1" dirty="0"/>
              <a:t>General </a:t>
            </a:r>
            <a:r>
              <a:rPr lang="en-US" b="1" dirty="0" err="1"/>
              <a:t>Behaviour</a:t>
            </a:r>
            <a:endParaRPr lang="en-US" b="1" dirty="0"/>
          </a:p>
          <a:p>
            <a:pPr lvl="1">
              <a:defRPr/>
            </a:pPr>
            <a:r>
              <a:rPr lang="en-US" dirty="0"/>
              <a:t>Be creative! – No Kindergarten!</a:t>
            </a:r>
          </a:p>
          <a:p>
            <a:pPr lvl="1">
              <a:defRPr/>
            </a:pPr>
            <a:r>
              <a:rPr lang="en-US" dirty="0"/>
              <a:t>Engage problems in teams early</a:t>
            </a:r>
          </a:p>
          <a:p>
            <a:pPr lvl="2">
              <a:defRPr/>
            </a:pPr>
            <a:r>
              <a:rPr lang="en-US" dirty="0"/>
              <a:t>Try to solve problems internally</a:t>
            </a:r>
          </a:p>
          <a:p>
            <a:pPr lvl="2">
              <a:defRPr/>
            </a:pPr>
            <a:r>
              <a:rPr lang="en-US" dirty="0"/>
              <a:t>Get in contact with the course organizers early, if you can’t solve the problems internally</a:t>
            </a:r>
          </a:p>
          <a:p>
            <a:pPr lvl="1">
              <a:defRPr/>
            </a:pPr>
            <a:r>
              <a:rPr lang="en-US" dirty="0"/>
              <a:t>Think of yourselves as a consulting team helping the course teachers as your customers</a:t>
            </a:r>
          </a:p>
          <a:p>
            <a:pPr lvl="1">
              <a:defRPr/>
            </a:pPr>
            <a:endParaRPr lang="en-US" b="1" dirty="0"/>
          </a:p>
          <a:p>
            <a:endParaRPr lang="de-DE" dirty="0"/>
          </a:p>
        </p:txBody>
      </p:sp>
      <p:sp>
        <p:nvSpPr>
          <p:cNvPr id="10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11162" y="4854985"/>
            <a:ext cx="6464280" cy="273844"/>
          </a:xfrm>
          <a:prstGeom prst="rect">
            <a:avLst/>
          </a:prstGeom>
        </p:spPr>
        <p:txBody>
          <a:bodyPr/>
          <a:lstStyle/>
          <a:p>
            <a:r>
              <a:rPr lang="en-US" sz="1100" noProof="0" dirty="0"/>
              <a:t>Next Generation Data Center Operations – 05 Expectation &amp; Requirements</a:t>
            </a: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774934" y="4854985"/>
            <a:ext cx="2052074" cy="273844"/>
          </a:xfrm>
          <a:prstGeom prst="rect">
            <a:avLst/>
          </a:prstGeom>
        </p:spPr>
        <p:txBody>
          <a:bodyPr/>
          <a:lstStyle/>
          <a:p>
            <a:pPr algn="r"/>
            <a:fld id="{CE58CB1E-F828-4F11-99E0-327109AF9DA4}" type="slidenum">
              <a:rPr lang="de-DE" sz="1100" smtClean="0"/>
              <a:pPr algn="r"/>
              <a:t>4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02963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B3D7E4B-30D1-63EB-2BE2-88E96955E79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60541" name="Rectangle 3">
            <a:extLst>
              <a:ext uri="{FF2B5EF4-FFF2-40B4-BE49-F238E27FC236}">
                <a16:creationId xmlns:a16="http://schemas.microsoft.com/office/drawing/2014/main" id="{0D52DAB8-CF1B-B43D-2E63-7BAE9B291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235" y="789385"/>
            <a:ext cx="6172200" cy="410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buFont typeface="Arial"/>
              <a:buChar char="•"/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CE2C635-C398-7F82-31F7-2C79D6E90EF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19091" y="1131590"/>
            <a:ext cx="5295270" cy="36004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In Meetings with supervisors (and external partners)</a:t>
            </a:r>
          </a:p>
          <a:p>
            <a:pPr lvl="1">
              <a:defRPr/>
            </a:pPr>
            <a:r>
              <a:rPr lang="en-US" dirty="0"/>
              <a:t>Turn on your camera!</a:t>
            </a:r>
          </a:p>
          <a:p>
            <a:pPr lvl="1">
              <a:defRPr/>
            </a:pPr>
            <a:r>
              <a:rPr lang="en-US" dirty="0"/>
              <a:t>Be on-time</a:t>
            </a:r>
          </a:p>
          <a:p>
            <a:pPr lvl="1">
              <a:defRPr/>
            </a:pPr>
            <a:r>
              <a:rPr lang="en-US" dirty="0"/>
              <a:t>Have some slides or a demo prepared</a:t>
            </a:r>
          </a:p>
          <a:p>
            <a:pPr lvl="1">
              <a:defRPr/>
            </a:pPr>
            <a:r>
              <a:rPr lang="en-US" dirty="0"/>
              <a:t>Send your questions previously to the supervisors/partners such that they can prepare</a:t>
            </a:r>
          </a:p>
          <a:p>
            <a:pPr lvl="1">
              <a:defRPr/>
            </a:pPr>
            <a:r>
              <a:rPr lang="en-US" dirty="0"/>
              <a:t>Speak to show that you are available and considerate</a:t>
            </a:r>
          </a:p>
          <a:p>
            <a:pPr lvl="1">
              <a:defRPr/>
            </a:pPr>
            <a:r>
              <a:rPr lang="en-US" dirty="0"/>
              <a:t>Split up the speaking parts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88963291" name="Titel 1">
            <a:extLst>
              <a:ext uri="{FF2B5EF4-FFF2-40B4-BE49-F238E27FC236}">
                <a16:creationId xmlns:a16="http://schemas.microsoft.com/office/drawing/2014/main" id="{E3F7BF85-7880-750B-1E1C-3148ECC0B8F0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Calibri"/>
              </a:rPr>
              <a:t>Meeting </a:t>
            </a:r>
            <a:r>
              <a:rPr lang="de-DE" dirty="0" err="1"/>
              <a:t>Etiquette</a:t>
            </a: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94818C-18E7-2409-2CAE-7D17A48940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Expectations</a:t>
            </a:r>
            <a:endParaRPr lang="de-DE" dirty="0"/>
          </a:p>
        </p:txBody>
      </p:sp>
      <p:sp>
        <p:nvSpPr>
          <p:cNvPr id="10" name="Fußzeilenplatzhalter 13">
            <a:extLst>
              <a:ext uri="{FF2B5EF4-FFF2-40B4-BE49-F238E27FC236}">
                <a16:creationId xmlns:a16="http://schemas.microsoft.com/office/drawing/2014/main" id="{480981D8-7FD4-15AE-7B1A-DF363789C00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11162" y="4854985"/>
            <a:ext cx="6464280" cy="273844"/>
          </a:xfrm>
          <a:prstGeom prst="rect">
            <a:avLst/>
          </a:prstGeom>
        </p:spPr>
        <p:txBody>
          <a:bodyPr/>
          <a:lstStyle/>
          <a:p>
            <a:r>
              <a:rPr lang="en-US" sz="1100" noProof="0" dirty="0"/>
              <a:t>Next Generation Data Center Operations – 05 Expectation &amp; Requirements</a:t>
            </a: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69CD7F17-B15F-3E51-28FA-939B7DC9C0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774934" y="4854985"/>
            <a:ext cx="2052074" cy="273844"/>
          </a:xfrm>
          <a:prstGeom prst="rect">
            <a:avLst/>
          </a:prstGeom>
        </p:spPr>
        <p:txBody>
          <a:bodyPr/>
          <a:lstStyle/>
          <a:p>
            <a:pPr algn="r"/>
            <a:fld id="{CE58CB1E-F828-4F11-99E0-327109AF9DA4}" type="slidenum">
              <a:rPr lang="de-DE" sz="1100" smtClean="0"/>
              <a:pPr algn="r"/>
              <a:t>5</a:t>
            </a:fld>
            <a:endParaRPr lang="de-DE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55EBD3-D0B6-CB87-44E3-C62381553879}"/>
              </a:ext>
            </a:extLst>
          </p:cNvPr>
          <p:cNvPicPr>
            <a:picLocks noGrp="1" noChangeAspect="1" noChangeArrowheads="1"/>
          </p:cNvPicPr>
          <p:nvPr>
            <p:ph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428183"/>
            <a:ext cx="2134468" cy="225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06EA0AD-5FF1-9E21-C8F7-7193AF780185}"/>
              </a:ext>
            </a:extLst>
          </p:cNvPr>
          <p:cNvSpPr txBox="1"/>
          <p:nvPr/>
        </p:nvSpPr>
        <p:spPr>
          <a:xfrm>
            <a:off x="6413397" y="3709463"/>
            <a:ext cx="2052074" cy="554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Source: https://de.wikipedia.org/wiki/Datei:Microsoft_Office_Teams_%282025%E2%80%93present%29.svg</a:t>
            </a:r>
          </a:p>
        </p:txBody>
      </p:sp>
    </p:spTree>
    <p:extLst>
      <p:ext uri="{BB962C8B-B14F-4D97-AF65-F5344CB8AC3E}">
        <p14:creationId xmlns:p14="http://schemas.microsoft.com/office/powerpoint/2010/main" val="49246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E30A55-A35A-3606-1E7D-1E380A79DE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5091AB9-4A44-A70D-5E67-098C332B9DB1}"/>
              </a:ext>
            </a:extLst>
          </p:cNvPr>
          <p:cNvPicPr>
            <a:picLocks noGrp="1" noChangeAspect="1" noChangeArrowheads="1"/>
          </p:cNvPicPr>
          <p:nvPr>
            <p:ph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9" y="879269"/>
            <a:ext cx="3046216" cy="304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7960541" name="Rectangle 3">
            <a:extLst>
              <a:ext uri="{FF2B5EF4-FFF2-40B4-BE49-F238E27FC236}">
                <a16:creationId xmlns:a16="http://schemas.microsoft.com/office/drawing/2014/main" id="{A39AE792-3134-FCCC-0750-5C4D22EAD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235" y="789385"/>
            <a:ext cx="6172200" cy="410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buFont typeface="Arial"/>
              <a:buChar char="•"/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ABB5A38-AFD1-45F5-C810-B15BF5FD019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19091" y="1131590"/>
            <a:ext cx="5295270" cy="3600400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Define profiles and work packages</a:t>
            </a:r>
          </a:p>
          <a:p>
            <a:pPr lvl="2">
              <a:defRPr/>
            </a:pPr>
            <a:r>
              <a:rPr lang="en-US" dirty="0"/>
              <a:t>Document both</a:t>
            </a:r>
          </a:p>
          <a:p>
            <a:pPr lvl="2">
              <a:defRPr/>
            </a:pPr>
            <a:r>
              <a:rPr lang="en-US" dirty="0"/>
              <a:t>Present the profiles</a:t>
            </a:r>
          </a:p>
          <a:p>
            <a:pPr lvl="1">
              <a:defRPr/>
            </a:pPr>
            <a:r>
              <a:rPr lang="en-US" dirty="0"/>
              <a:t>Decide/determine a project lead or project manager</a:t>
            </a:r>
          </a:p>
          <a:p>
            <a:pPr lvl="1">
              <a:defRPr/>
            </a:pPr>
            <a:r>
              <a:rPr lang="en-US" dirty="0"/>
              <a:t>Schedule regular meetings</a:t>
            </a:r>
          </a:p>
          <a:p>
            <a:pPr lvl="1">
              <a:defRPr/>
            </a:pPr>
            <a:r>
              <a:rPr lang="en-US" dirty="0"/>
              <a:t>Early engage members and work not meeting the requirements</a:t>
            </a:r>
          </a:p>
          <a:p>
            <a:pPr lvl="1">
              <a:defRPr/>
            </a:pPr>
            <a:r>
              <a:rPr lang="en-US" dirty="0"/>
              <a:t>Write a project plan (when do we do what) </a:t>
            </a:r>
            <a:r>
              <a:rPr lang="en-US" dirty="0">
                <a:sym typeface="Wingdings" panose="05000000000000000000" pitchFamily="2" charset="2"/>
              </a:rPr>
              <a:t> present it in the intermediate presentation</a:t>
            </a: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Regularly update your topic supervisor (=customer)</a:t>
            </a: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Actively contact your topic supervisors, don’t wait until they contact you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88963291" name="Titel 1">
            <a:extLst>
              <a:ext uri="{FF2B5EF4-FFF2-40B4-BE49-F238E27FC236}">
                <a16:creationId xmlns:a16="http://schemas.microsoft.com/office/drawing/2014/main" id="{46E06E19-5D18-3229-C561-C1064583D710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>
                <a:latin typeface="Calibri"/>
              </a:rPr>
              <a:t>Project Management</a:t>
            </a: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3CCB8-A28B-404E-1251-4D94624AAA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Expectations</a:t>
            </a:r>
            <a:endParaRPr lang="de-DE" dirty="0"/>
          </a:p>
        </p:txBody>
      </p:sp>
      <p:sp>
        <p:nvSpPr>
          <p:cNvPr id="10" name="Fußzeilenplatzhalter 13">
            <a:extLst>
              <a:ext uri="{FF2B5EF4-FFF2-40B4-BE49-F238E27FC236}">
                <a16:creationId xmlns:a16="http://schemas.microsoft.com/office/drawing/2014/main" id="{88A296F9-A793-3B18-88FD-86562B481E2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11162" y="4854985"/>
            <a:ext cx="6464280" cy="273844"/>
          </a:xfrm>
          <a:prstGeom prst="rect">
            <a:avLst/>
          </a:prstGeom>
        </p:spPr>
        <p:txBody>
          <a:bodyPr/>
          <a:lstStyle/>
          <a:p>
            <a:r>
              <a:rPr lang="en-US" sz="1100" noProof="0" dirty="0"/>
              <a:t>Next Generation Data Center Operations – 05 Expectation &amp; Requirements</a:t>
            </a: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6B8DAD2A-7793-52F5-8248-3061E93E7F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774934" y="4854985"/>
            <a:ext cx="2052074" cy="273844"/>
          </a:xfrm>
          <a:prstGeom prst="rect">
            <a:avLst/>
          </a:prstGeom>
        </p:spPr>
        <p:txBody>
          <a:bodyPr/>
          <a:lstStyle/>
          <a:p>
            <a:pPr algn="r"/>
            <a:fld id="{CE58CB1E-F828-4F11-99E0-327109AF9DA4}" type="slidenum">
              <a:rPr lang="de-DE" sz="1100" smtClean="0"/>
              <a:pPr algn="r"/>
              <a:t>6</a:t>
            </a:fld>
            <a:endParaRPr lang="de-DE" sz="11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1FDA26D-9306-75F5-AADE-3BF0764A3158}"/>
              </a:ext>
            </a:extLst>
          </p:cNvPr>
          <p:cNvSpPr txBox="1"/>
          <p:nvPr/>
        </p:nvSpPr>
        <p:spPr>
          <a:xfrm>
            <a:off x="6059104" y="3718280"/>
            <a:ext cx="2473335" cy="414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Source: https://img.freepik.com/free-vector/hand-drawn-business-planning-concept_52683-75727.jpg?semt=ais_hybrid&amp;w=740&amp;q=80</a:t>
            </a:r>
          </a:p>
        </p:txBody>
      </p:sp>
    </p:spTree>
    <p:extLst>
      <p:ext uri="{BB962C8B-B14F-4D97-AF65-F5344CB8AC3E}">
        <p14:creationId xmlns:p14="http://schemas.microsoft.com/office/powerpoint/2010/main" val="133564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B4E2-C152-5C8E-5E91-DD7839C8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3369384-7FCA-1281-3E60-BA00D0F2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8122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D789-48D7-77FB-0A9F-AA1264E5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3FA0446-0BBB-CEFE-C098-7DA72748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E00E37-9465-4EAB-058F-254EB6822A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647453-3241-80B4-AA95-ACA7006FB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Why are presentations important?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F6698150-2C48-0174-23D4-24D0B6D69B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Next Generation Data Center Operations – 05 </a:t>
            </a:r>
            <a:r>
              <a:rPr lang="en-US" dirty="0">
                <a:solidFill>
                  <a:prstClr val="black"/>
                </a:solidFill>
              </a:rPr>
              <a:t>Expectations &amp; Requirements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D0DFB6D-FA22-C5D9-E460-9DCCAB66EE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6" name="Graphic 5" descr="Presentation with bar chart with solid fill">
            <a:extLst>
              <a:ext uri="{FF2B5EF4-FFF2-40B4-BE49-F238E27FC236}">
                <a16:creationId xmlns:a16="http://schemas.microsoft.com/office/drawing/2014/main" id="{1207AE40-826B-A151-5684-B41E2C03F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8" name="Graphic 7" descr="Lecturer with solid fill">
            <a:extLst>
              <a:ext uri="{FF2B5EF4-FFF2-40B4-BE49-F238E27FC236}">
                <a16:creationId xmlns:a16="http://schemas.microsoft.com/office/drawing/2014/main" id="{7EFA8653-41D2-8C16-B2C2-2D0C21E08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5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0D284-7E47-373B-4230-F1C6F881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CF248F3-2A30-D1A7-7E27-B49C8096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F60AA1-9D1A-F1AC-DB7C-6DDAC76F01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C0CE8D-625F-3689-F944-7783B63A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Why are presentations important?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Disseminate information efficiently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Engaging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Interactive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Ensure participation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…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1A2745A-4442-85C7-A655-1F440F2DF8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A7B786-6C5C-EFDF-6705-228ABD9A12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A7F27EDA-623A-FE47-24BF-6EC7CDBEAB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BC86AE67-99D1-96C6-9070-A0215BE21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75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31D0-C3AD-23B3-AFC3-325AA605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79C7C95-1E06-BA19-DC31-11AC7D83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4AB078-DF14-549F-0246-B38663D96B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8AD249-1309-CA5C-7154-6B70C27A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Why are presentation </a:t>
            </a:r>
            <a:r>
              <a:rPr lang="en-US" sz="1600" dirty="0">
                <a:solidFill>
                  <a:srgbClr val="005293"/>
                </a:solidFill>
              </a:rPr>
              <a:t>skills</a:t>
            </a:r>
            <a:r>
              <a:rPr lang="en-US" sz="1600" dirty="0"/>
              <a:t> important?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5FDE47F-2DB5-C594-E59B-DBD94AA8F2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300E94D-418D-ACED-0320-B42EC76E2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6D9CC89F-1AD6-1A6B-D7C5-83D3FF0BD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EA6E4330-5233-0189-32F8-031AA94BF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9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B9CB-A7E6-3C6B-FCF9-1C25F6E1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5CEA8AA-A08A-3386-CEF6-ABDBFD52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3762FF7-1400-2F24-491B-D70479D90A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49C6C6-0066-8EFA-88F3-3D9EA7F85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Why are presentation </a:t>
            </a:r>
            <a:r>
              <a:rPr lang="en-US" sz="1600" dirty="0">
                <a:solidFill>
                  <a:srgbClr val="005293"/>
                </a:solidFill>
              </a:rPr>
              <a:t>skills</a:t>
            </a:r>
            <a:r>
              <a:rPr lang="en-US" sz="1600" dirty="0"/>
              <a:t> important?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(Almost) Everybody has to present things: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 your team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 your boss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 customers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To potential customers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3E082B5F-DAEB-6F4F-7698-4E6498F10B6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DBA3FCA-23F0-FA0C-9796-FF69AF53EF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0AA4D3C4-AEB7-9B2E-B0CA-59ECCF682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6101CC2A-5AA3-60D2-CF9E-97CDC59DB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6BA4-FA68-D26F-4DDA-34FCBC84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E5555A9-CC77-1577-6E08-5787C9A4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B1F7CE-646B-4628-9B6D-6AB848BFA4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68ED24-6239-23A7-79E8-085E6B35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Why are presentation </a:t>
            </a:r>
            <a:r>
              <a:rPr lang="en-US" sz="1600" dirty="0">
                <a:solidFill>
                  <a:srgbClr val="005293"/>
                </a:solidFill>
              </a:rPr>
              <a:t>skills</a:t>
            </a:r>
            <a:r>
              <a:rPr lang="en-US" sz="1600" dirty="0"/>
              <a:t> important?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Impressions matter!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Ensure you are heard and remembered: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Prevent your contributions from being overlooked </a:t>
            </a:r>
          </a:p>
          <a:p>
            <a:pPr lvl="1" indent="0" algn="just">
              <a:buNone/>
            </a:pPr>
            <a:r>
              <a:rPr lang="en-US" sz="1600" dirty="0"/>
              <a:t>       (by your boss)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Customers understand their system &amp; your worth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Get hired (employers &amp; customers)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EF0F3A68-2C6A-1192-6307-7103813940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8B4EBF2-5DC6-1582-901A-0272EDFAC4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545A624B-EA54-CFC8-4F22-11EA22AA2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8BA0CC3A-00DD-2824-FF3A-5D734BEDC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6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AD7E-EBB4-67D2-0699-DD2FC21CA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3D4AB698-0609-15A4-8C2A-917BE58EE909}"/>
              </a:ext>
            </a:extLst>
          </p:cNvPr>
          <p:cNvGrpSpPr/>
          <p:nvPr/>
        </p:nvGrpSpPr>
        <p:grpSpPr>
          <a:xfrm>
            <a:off x="591963" y="772844"/>
            <a:ext cx="7803691" cy="3815130"/>
            <a:chOff x="467544" y="1062658"/>
            <a:chExt cx="7902523" cy="3599106"/>
          </a:xfrm>
        </p:grpSpPr>
        <p:grpSp>
          <p:nvGrpSpPr>
            <p:cNvPr id="7" name="Gruppieren 54">
              <a:extLst>
                <a:ext uri="{FF2B5EF4-FFF2-40B4-BE49-F238E27FC236}">
                  <a16:creationId xmlns:a16="http://schemas.microsoft.com/office/drawing/2014/main" id="{864E1A53-BAAD-B9A3-4F83-4455DD170328}"/>
                </a:ext>
              </a:extLst>
            </p:cNvPr>
            <p:cNvGrpSpPr/>
            <p:nvPr/>
          </p:nvGrpSpPr>
          <p:grpSpPr bwMode="auto">
            <a:xfrm>
              <a:off x="467544" y="1062658"/>
              <a:ext cx="7896247" cy="3323895"/>
              <a:chOff x="304233" y="2216070"/>
              <a:chExt cx="8535533" cy="3592999"/>
            </a:xfrm>
          </p:grpSpPr>
          <p:sp>
            <p:nvSpPr>
              <p:cNvPr id="16" name="Rechteck 3">
                <a:extLst>
                  <a:ext uri="{FF2B5EF4-FFF2-40B4-BE49-F238E27FC236}">
                    <a16:creationId xmlns:a16="http://schemas.microsoft.com/office/drawing/2014/main" id="{C7BD9469-3EBD-897A-5F82-D31D27E2C16D}"/>
                  </a:ext>
                </a:extLst>
              </p:cNvPr>
              <p:cNvSpPr/>
              <p:nvPr/>
            </p:nvSpPr>
            <p:spPr bwMode="auto">
              <a:xfrm>
                <a:off x="3749040" y="2216070"/>
                <a:ext cx="1645920" cy="548639"/>
              </a:xfrm>
              <a:prstGeom prst="rect">
                <a:avLst/>
              </a:prstGeom>
              <a:solidFill>
                <a:srgbClr val="19D1D5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sz="1600" dirty="0">
                    <a:latin typeface="+mj-lt"/>
                  </a:rPr>
                  <a:t>Final Grade</a:t>
                </a:r>
                <a:endParaRPr sz="1600" dirty="0">
                  <a:latin typeface="+mj-lt"/>
                </a:endParaRPr>
              </a:p>
            </p:txBody>
          </p:sp>
          <p:sp>
            <p:nvSpPr>
              <p:cNvPr id="17" name="Rechteck 5">
                <a:extLst>
                  <a:ext uri="{FF2B5EF4-FFF2-40B4-BE49-F238E27FC236}">
                    <a16:creationId xmlns:a16="http://schemas.microsoft.com/office/drawing/2014/main" id="{D228936D-4258-F951-E1C0-F29117432A1B}"/>
                  </a:ext>
                </a:extLst>
              </p:cNvPr>
              <p:cNvSpPr/>
              <p:nvPr/>
            </p:nvSpPr>
            <p:spPr bwMode="auto">
              <a:xfrm>
                <a:off x="3665034" y="3591927"/>
                <a:ext cx="1798886" cy="697850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sz="1600" dirty="0">
                    <a:latin typeface="+mj-lt"/>
                  </a:rPr>
                  <a:t>Project Phase</a:t>
                </a:r>
                <a:endParaRPr sz="1600" dirty="0">
                  <a:latin typeface="+mj-lt"/>
                </a:endParaRPr>
              </a:p>
            </p:txBody>
          </p:sp>
          <p:sp>
            <p:nvSpPr>
              <p:cNvPr id="18" name="Rechteck 9">
                <a:extLst>
                  <a:ext uri="{FF2B5EF4-FFF2-40B4-BE49-F238E27FC236}">
                    <a16:creationId xmlns:a16="http://schemas.microsoft.com/office/drawing/2014/main" id="{7D1F5B13-9A32-D233-B6EE-2308FB86DCB8}"/>
                  </a:ext>
                </a:extLst>
              </p:cNvPr>
              <p:cNvSpPr/>
              <p:nvPr/>
            </p:nvSpPr>
            <p:spPr bwMode="auto">
              <a:xfrm>
                <a:off x="6640187" y="3607204"/>
                <a:ext cx="1645919" cy="69785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sz="1600" dirty="0">
                    <a:latin typeface="+mj-lt"/>
                  </a:rPr>
                  <a:t>Knowledge Check</a:t>
                </a:r>
              </a:p>
            </p:txBody>
          </p:sp>
          <p:sp>
            <p:nvSpPr>
              <p:cNvPr id="19" name="Rechteck 10">
                <a:extLst>
                  <a:ext uri="{FF2B5EF4-FFF2-40B4-BE49-F238E27FC236}">
                    <a16:creationId xmlns:a16="http://schemas.microsoft.com/office/drawing/2014/main" id="{71F3C7A7-EC1E-E6A1-98E8-7F642A985EDA}"/>
                  </a:ext>
                </a:extLst>
              </p:cNvPr>
              <p:cNvSpPr/>
              <p:nvPr/>
            </p:nvSpPr>
            <p:spPr bwMode="auto">
              <a:xfrm>
                <a:off x="304233" y="5116993"/>
                <a:ext cx="1947133" cy="69207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1500">
                    <a:latin typeface="+mj-lt"/>
                  </a:rPr>
                  <a:t>Concept Presentation</a:t>
                </a:r>
                <a:endParaRPr>
                  <a:latin typeface="+mj-lt"/>
                </a:endParaRPr>
              </a:p>
            </p:txBody>
          </p:sp>
          <p:sp>
            <p:nvSpPr>
              <p:cNvPr id="20" name="Textfeld 20">
                <a:extLst>
                  <a:ext uri="{FF2B5EF4-FFF2-40B4-BE49-F238E27FC236}">
                    <a16:creationId xmlns:a16="http://schemas.microsoft.com/office/drawing/2014/main" id="{88E256FE-39B0-7113-9F8E-07CFD649E585}"/>
                  </a:ext>
                </a:extLst>
              </p:cNvPr>
              <p:cNvSpPr txBox="1"/>
              <p:nvPr/>
            </p:nvSpPr>
            <p:spPr bwMode="auto">
              <a:xfrm>
                <a:off x="5961534" y="2519507"/>
                <a:ext cx="665736" cy="3992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20%</a:t>
                </a:r>
                <a:endParaRPr dirty="0">
                  <a:latin typeface="+mj-lt"/>
                </a:endParaRPr>
              </a:p>
            </p:txBody>
          </p:sp>
          <p:sp>
            <p:nvSpPr>
              <p:cNvPr id="21" name="Rechteck 23">
                <a:extLst>
                  <a:ext uri="{FF2B5EF4-FFF2-40B4-BE49-F238E27FC236}">
                    <a16:creationId xmlns:a16="http://schemas.microsoft.com/office/drawing/2014/main" id="{6313D2AF-7C04-A8A7-348E-04C6CBA9BECE}"/>
                  </a:ext>
                </a:extLst>
              </p:cNvPr>
              <p:cNvSpPr/>
              <p:nvPr/>
            </p:nvSpPr>
            <p:spPr bwMode="auto">
              <a:xfrm>
                <a:off x="2500366" y="5116993"/>
                <a:ext cx="1947133" cy="69207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1500">
                    <a:latin typeface="+mj-lt"/>
                  </a:rPr>
                  <a:t>Final Presentation</a:t>
                </a:r>
                <a:endParaRPr>
                  <a:latin typeface="+mj-lt"/>
                </a:endParaRPr>
              </a:p>
            </p:txBody>
          </p:sp>
          <p:cxnSp>
            <p:nvCxnSpPr>
              <p:cNvPr id="22" name="Gerade Verbindung mit Pfeil 17">
                <a:extLst>
                  <a:ext uri="{FF2B5EF4-FFF2-40B4-BE49-F238E27FC236}">
                    <a16:creationId xmlns:a16="http://schemas.microsoft.com/office/drawing/2014/main" id="{94BE7DCC-CB39-A9D0-4570-65E4B5A5FEBE}"/>
                  </a:ext>
                </a:extLst>
              </p:cNvPr>
              <p:cNvCxnSpPr>
                <a:stCxn id="17" idx="0"/>
                <a:endCxn id="16" idx="2"/>
              </p:cNvCxnSpPr>
              <p:nvPr/>
            </p:nvCxnSpPr>
            <p:spPr bwMode="auto">
              <a:xfrm flipV="1">
                <a:off x="4564477" y="2764711"/>
                <a:ext cx="7523" cy="827216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65BD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3" name="Verbinder: gewinkelt 31">
                <a:extLst>
                  <a:ext uri="{FF2B5EF4-FFF2-40B4-BE49-F238E27FC236}">
                    <a16:creationId xmlns:a16="http://schemas.microsoft.com/office/drawing/2014/main" id="{18A68DD7-031C-B77A-6F87-7A2116B45D69}"/>
                  </a:ext>
                </a:extLst>
              </p:cNvPr>
              <p:cNvCxnSpPr>
                <a:stCxn id="18" idx="0"/>
                <a:endCxn id="16" idx="3"/>
              </p:cNvCxnSpPr>
              <p:nvPr/>
            </p:nvCxnSpPr>
            <p:spPr bwMode="auto">
              <a:xfrm rot="16200000" flipV="1">
                <a:off x="5870648" y="2014704"/>
                <a:ext cx="1116813" cy="2068188"/>
              </a:xfrm>
              <a:prstGeom prst="bentConnector2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4" name="Textfeld 35">
                <a:extLst>
                  <a:ext uri="{FF2B5EF4-FFF2-40B4-BE49-F238E27FC236}">
                    <a16:creationId xmlns:a16="http://schemas.microsoft.com/office/drawing/2014/main" id="{115A74ED-DC2B-CE93-8036-939B5BB7FD3E}"/>
                  </a:ext>
                </a:extLst>
              </p:cNvPr>
              <p:cNvSpPr txBox="1"/>
              <p:nvPr/>
            </p:nvSpPr>
            <p:spPr bwMode="auto">
              <a:xfrm>
                <a:off x="4239130" y="2978264"/>
                <a:ext cx="665736" cy="3992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70%</a:t>
                </a:r>
                <a:endParaRPr dirty="0">
                  <a:latin typeface="+mj-lt"/>
                </a:endParaRPr>
              </a:p>
            </p:txBody>
          </p:sp>
          <p:sp>
            <p:nvSpPr>
              <p:cNvPr id="25" name="Rechteck 36">
                <a:extLst>
                  <a:ext uri="{FF2B5EF4-FFF2-40B4-BE49-F238E27FC236}">
                    <a16:creationId xmlns:a16="http://schemas.microsoft.com/office/drawing/2014/main" id="{08DFF32E-823F-B7E1-97AE-F0FAC2FAB03F}"/>
                  </a:ext>
                </a:extLst>
              </p:cNvPr>
              <p:cNvSpPr/>
              <p:nvPr/>
            </p:nvSpPr>
            <p:spPr bwMode="auto">
              <a:xfrm>
                <a:off x="4696499" y="5116993"/>
                <a:ext cx="1947134" cy="69207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1500">
                    <a:latin typeface="+mj-lt"/>
                  </a:rPr>
                  <a:t>Documentation</a:t>
                </a:r>
                <a:endParaRPr>
                  <a:latin typeface="+mj-lt"/>
                </a:endParaRPr>
              </a:p>
            </p:txBody>
          </p:sp>
          <p:sp>
            <p:nvSpPr>
              <p:cNvPr id="26" name="Rechteck 37">
                <a:extLst>
                  <a:ext uri="{FF2B5EF4-FFF2-40B4-BE49-F238E27FC236}">
                    <a16:creationId xmlns:a16="http://schemas.microsoft.com/office/drawing/2014/main" id="{9FD05366-6585-648A-4B57-453D0C495015}"/>
                  </a:ext>
                </a:extLst>
              </p:cNvPr>
              <p:cNvSpPr/>
              <p:nvPr/>
            </p:nvSpPr>
            <p:spPr bwMode="auto">
              <a:xfrm>
                <a:off x="6892632" y="5116993"/>
                <a:ext cx="1947134" cy="69207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80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sz="1500">
                    <a:latin typeface="+mj-lt"/>
                  </a:rPr>
                  <a:t>Project</a:t>
                </a:r>
                <a:endParaRPr lang="en-GB" sz="1500">
                  <a:latin typeface="+mj-lt"/>
                </a:endParaRPr>
              </a:p>
            </p:txBody>
          </p:sp>
          <p:cxnSp>
            <p:nvCxnSpPr>
              <p:cNvPr id="27" name="Verbinder: gewinkelt 39">
                <a:extLst>
                  <a:ext uri="{FF2B5EF4-FFF2-40B4-BE49-F238E27FC236}">
                    <a16:creationId xmlns:a16="http://schemas.microsoft.com/office/drawing/2014/main" id="{8BE7DEB3-B1A4-DC04-7908-8D38FCF26D00}"/>
                  </a:ext>
                </a:extLst>
              </p:cNvPr>
              <p:cNvCxnSpPr>
                <a:stCxn id="17" idx="2"/>
                <a:endCxn id="25" idx="0"/>
              </p:cNvCxnSpPr>
              <p:nvPr/>
            </p:nvCxnSpPr>
            <p:spPr bwMode="auto">
              <a:xfrm rot="16199999" flipH="1">
                <a:off x="4703663" y="4150590"/>
                <a:ext cx="827216" cy="1105589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065BD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  <p:cxnSp>
            <p:nvCxnSpPr>
              <p:cNvPr id="28" name="Verbinder: gewinkelt 41">
                <a:extLst>
                  <a:ext uri="{FF2B5EF4-FFF2-40B4-BE49-F238E27FC236}">
                    <a16:creationId xmlns:a16="http://schemas.microsoft.com/office/drawing/2014/main" id="{67018FAF-425D-1DD0-6DBF-5D752D54F35A}"/>
                  </a:ext>
                </a:extLst>
              </p:cNvPr>
              <p:cNvCxnSpPr>
                <a:stCxn id="17" idx="2"/>
                <a:endCxn id="21" idx="0"/>
              </p:cNvCxnSpPr>
              <p:nvPr/>
            </p:nvCxnSpPr>
            <p:spPr bwMode="auto">
              <a:xfrm rot="5400000">
                <a:off x="3605596" y="4158113"/>
                <a:ext cx="827216" cy="1090544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065BD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  <p:cxnSp>
            <p:nvCxnSpPr>
              <p:cNvPr id="29" name="Verbinder: gewinkelt 43">
                <a:extLst>
                  <a:ext uri="{FF2B5EF4-FFF2-40B4-BE49-F238E27FC236}">
                    <a16:creationId xmlns:a16="http://schemas.microsoft.com/office/drawing/2014/main" id="{BC28CD55-41A7-3236-C49C-62B626E5C276}"/>
                  </a:ext>
                </a:extLst>
              </p:cNvPr>
              <p:cNvCxnSpPr>
                <a:stCxn id="17" idx="2"/>
                <a:endCxn id="19" idx="0"/>
              </p:cNvCxnSpPr>
              <p:nvPr/>
            </p:nvCxnSpPr>
            <p:spPr bwMode="auto">
              <a:xfrm rot="5400000">
                <a:off x="2507531" y="3060047"/>
                <a:ext cx="827216" cy="3286677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065BD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  <p:cxnSp>
            <p:nvCxnSpPr>
              <p:cNvPr id="30" name="Verbinder: gewinkelt 47">
                <a:extLst>
                  <a:ext uri="{FF2B5EF4-FFF2-40B4-BE49-F238E27FC236}">
                    <a16:creationId xmlns:a16="http://schemas.microsoft.com/office/drawing/2014/main" id="{C2BD7D6D-A3EA-F8FA-5C33-F6A28AEF1C72}"/>
                  </a:ext>
                </a:extLst>
              </p:cNvPr>
              <p:cNvCxnSpPr>
                <a:stCxn id="17" idx="2"/>
                <a:endCxn id="26" idx="0"/>
              </p:cNvCxnSpPr>
              <p:nvPr/>
            </p:nvCxnSpPr>
            <p:spPr bwMode="auto">
              <a:xfrm rot="16199999" flipH="1">
                <a:off x="5801730" y="3052524"/>
                <a:ext cx="827216" cy="3301722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065BD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  <p:sp>
            <p:nvSpPr>
              <p:cNvPr id="31" name="Textfeld 50">
                <a:extLst>
                  <a:ext uri="{FF2B5EF4-FFF2-40B4-BE49-F238E27FC236}">
                    <a16:creationId xmlns:a16="http://schemas.microsoft.com/office/drawing/2014/main" id="{A00BB7CF-0A84-7C79-B4A4-A05D53D3448D}"/>
                  </a:ext>
                </a:extLst>
              </p:cNvPr>
              <p:cNvSpPr txBox="1"/>
              <p:nvPr/>
            </p:nvSpPr>
            <p:spPr bwMode="auto">
              <a:xfrm>
                <a:off x="2105250" y="4500443"/>
                <a:ext cx="665736" cy="3992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10%</a:t>
                </a:r>
                <a:endParaRPr dirty="0">
                  <a:latin typeface="+mj-lt"/>
                </a:endParaRPr>
              </a:p>
            </p:txBody>
          </p:sp>
          <p:sp>
            <p:nvSpPr>
              <p:cNvPr id="32" name="Textfeld 51">
                <a:extLst>
                  <a:ext uri="{FF2B5EF4-FFF2-40B4-BE49-F238E27FC236}">
                    <a16:creationId xmlns:a16="http://schemas.microsoft.com/office/drawing/2014/main" id="{B3FA7227-BA42-1D47-423C-66B902D7C712}"/>
                  </a:ext>
                </a:extLst>
              </p:cNvPr>
              <p:cNvSpPr txBox="1"/>
              <p:nvPr/>
            </p:nvSpPr>
            <p:spPr bwMode="auto">
              <a:xfrm>
                <a:off x="3684172" y="4500443"/>
                <a:ext cx="665736" cy="3992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25%</a:t>
                </a:r>
                <a:endParaRPr dirty="0">
                  <a:latin typeface="+mj-lt"/>
                </a:endParaRPr>
              </a:p>
            </p:txBody>
          </p:sp>
          <p:sp>
            <p:nvSpPr>
              <p:cNvPr id="33" name="Textfeld 52">
                <a:extLst>
                  <a:ext uri="{FF2B5EF4-FFF2-40B4-BE49-F238E27FC236}">
                    <a16:creationId xmlns:a16="http://schemas.microsoft.com/office/drawing/2014/main" id="{1840B88E-14A1-5094-23C3-F53FC29771D1}"/>
                  </a:ext>
                </a:extLst>
              </p:cNvPr>
              <p:cNvSpPr txBox="1"/>
              <p:nvPr/>
            </p:nvSpPr>
            <p:spPr bwMode="auto">
              <a:xfrm>
                <a:off x="4782238" y="4502045"/>
                <a:ext cx="665736" cy="3992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25%</a:t>
                </a:r>
                <a:endParaRPr dirty="0">
                  <a:latin typeface="+mj-lt"/>
                </a:endParaRPr>
              </a:p>
            </p:txBody>
          </p:sp>
          <p:sp>
            <p:nvSpPr>
              <p:cNvPr id="34" name="Textfeld 53">
                <a:extLst>
                  <a:ext uri="{FF2B5EF4-FFF2-40B4-BE49-F238E27FC236}">
                    <a16:creationId xmlns:a16="http://schemas.microsoft.com/office/drawing/2014/main" id="{8416815E-6887-1F78-113B-664F0405B748}"/>
                  </a:ext>
                </a:extLst>
              </p:cNvPr>
              <p:cNvSpPr txBox="1"/>
              <p:nvPr/>
            </p:nvSpPr>
            <p:spPr bwMode="auto">
              <a:xfrm>
                <a:off x="6435266" y="4506343"/>
                <a:ext cx="665736" cy="3992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de-DE" dirty="0">
                    <a:latin typeface="+mj-lt"/>
                  </a:rPr>
                  <a:t>40%</a:t>
                </a:r>
                <a:endParaRPr dirty="0">
                  <a:latin typeface="+mj-lt"/>
                </a:endParaRPr>
              </a:p>
            </p:txBody>
          </p:sp>
        </p:grpSp>
        <p:sp>
          <p:nvSpPr>
            <p:cNvPr id="8" name="Rechteck: diagonal liegende Ecken abgeschnitten 58">
              <a:extLst>
                <a:ext uri="{FF2B5EF4-FFF2-40B4-BE49-F238E27FC236}">
                  <a16:creationId xmlns:a16="http://schemas.microsoft.com/office/drawing/2014/main" id="{8BE2EAE4-8922-B66A-F602-C4C008FC61F3}"/>
                </a:ext>
              </a:extLst>
            </p:cNvPr>
            <p:cNvSpPr/>
            <p:nvPr/>
          </p:nvSpPr>
          <p:spPr bwMode="auto">
            <a:xfrm>
              <a:off x="1544244" y="4340171"/>
              <a:ext cx="727967" cy="298858"/>
            </a:xfrm>
            <a:prstGeom prst="snip2DiagRect">
              <a:avLst>
                <a:gd name="adj1" fmla="val 16129"/>
                <a:gd name="adj2" fmla="val 0"/>
              </a:avLst>
            </a:prstGeom>
            <a:solidFill>
              <a:srgbClr val="E372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50" b="1" dirty="0">
                  <a:solidFill>
                    <a:schemeClr val="bg1"/>
                  </a:solidFill>
                  <a:latin typeface="+mj-lt"/>
                </a:rPr>
                <a:t>7%</a:t>
              </a:r>
              <a:endParaRPr dirty="0">
                <a:latin typeface="+mj-lt"/>
              </a:endParaRPr>
            </a:p>
          </p:txBody>
        </p:sp>
        <p:sp>
          <p:nvSpPr>
            <p:cNvPr id="9" name="Rechteck: diagonal liegende Ecken abgeschnitten 59">
              <a:extLst>
                <a:ext uri="{FF2B5EF4-FFF2-40B4-BE49-F238E27FC236}">
                  <a16:creationId xmlns:a16="http://schemas.microsoft.com/office/drawing/2014/main" id="{42E44E7B-0AE9-469A-034F-6256BE99C201}"/>
                </a:ext>
              </a:extLst>
            </p:cNvPr>
            <p:cNvSpPr/>
            <p:nvPr/>
          </p:nvSpPr>
          <p:spPr bwMode="auto">
            <a:xfrm>
              <a:off x="3572524" y="4362906"/>
              <a:ext cx="727967" cy="298858"/>
            </a:xfrm>
            <a:prstGeom prst="snip2DiagRect">
              <a:avLst>
                <a:gd name="adj1" fmla="val 16129"/>
                <a:gd name="adj2" fmla="val 0"/>
              </a:avLst>
            </a:prstGeom>
            <a:solidFill>
              <a:srgbClr val="E372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50" b="1" dirty="0">
                  <a:solidFill>
                    <a:schemeClr val="bg1"/>
                  </a:solidFill>
                  <a:latin typeface="+mj-lt"/>
                </a:rPr>
                <a:t>17,5%</a:t>
              </a:r>
              <a:endParaRPr dirty="0">
                <a:latin typeface="+mj-lt"/>
              </a:endParaRPr>
            </a:p>
          </p:txBody>
        </p:sp>
        <p:sp>
          <p:nvSpPr>
            <p:cNvPr id="10" name="Rechteck: diagonal liegende Ecken abgeschnitten 60">
              <a:extLst>
                <a:ext uri="{FF2B5EF4-FFF2-40B4-BE49-F238E27FC236}">
                  <a16:creationId xmlns:a16="http://schemas.microsoft.com/office/drawing/2014/main" id="{6F4A4744-199C-1F5B-0C84-1B77969CBB5F}"/>
                </a:ext>
              </a:extLst>
            </p:cNvPr>
            <p:cNvSpPr/>
            <p:nvPr/>
          </p:nvSpPr>
          <p:spPr bwMode="auto">
            <a:xfrm>
              <a:off x="5610451" y="4340171"/>
              <a:ext cx="727967" cy="298858"/>
            </a:xfrm>
            <a:prstGeom prst="snip2DiagRect">
              <a:avLst>
                <a:gd name="adj1" fmla="val 16129"/>
                <a:gd name="adj2" fmla="val 0"/>
              </a:avLst>
            </a:prstGeom>
            <a:solidFill>
              <a:srgbClr val="E372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50" b="1" dirty="0">
                  <a:solidFill>
                    <a:schemeClr val="bg1"/>
                  </a:solidFill>
                  <a:latin typeface="+mj-lt"/>
                </a:rPr>
                <a:t>17,5%</a:t>
              </a:r>
              <a:endParaRPr dirty="0">
                <a:latin typeface="+mj-lt"/>
              </a:endParaRPr>
            </a:p>
          </p:txBody>
        </p:sp>
        <p:sp>
          <p:nvSpPr>
            <p:cNvPr id="11" name="Rechteck: diagonal liegende Ecken abgeschnitten 61">
              <a:extLst>
                <a:ext uri="{FF2B5EF4-FFF2-40B4-BE49-F238E27FC236}">
                  <a16:creationId xmlns:a16="http://schemas.microsoft.com/office/drawing/2014/main" id="{531F81C9-482B-39DD-4C9C-854FFB7B162F}"/>
                </a:ext>
              </a:extLst>
            </p:cNvPr>
            <p:cNvSpPr/>
            <p:nvPr/>
          </p:nvSpPr>
          <p:spPr bwMode="auto">
            <a:xfrm>
              <a:off x="7642100" y="4320235"/>
              <a:ext cx="727967" cy="298858"/>
            </a:xfrm>
            <a:prstGeom prst="snip2DiagRect">
              <a:avLst>
                <a:gd name="adj1" fmla="val 16129"/>
                <a:gd name="adj2" fmla="val 0"/>
              </a:avLst>
            </a:prstGeom>
            <a:solidFill>
              <a:srgbClr val="E372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50" b="1" dirty="0">
                  <a:solidFill>
                    <a:schemeClr val="bg1"/>
                  </a:solidFill>
                  <a:latin typeface="+mj-lt"/>
                </a:rPr>
                <a:t>28%</a:t>
              </a:r>
              <a:endParaRPr dirty="0">
                <a:latin typeface="+mj-lt"/>
              </a:endParaRPr>
            </a:p>
          </p:txBody>
        </p:sp>
        <p:sp>
          <p:nvSpPr>
            <p:cNvPr id="12" name="Rechteck 29">
              <a:extLst>
                <a:ext uri="{FF2B5EF4-FFF2-40B4-BE49-F238E27FC236}">
                  <a16:creationId xmlns:a16="http://schemas.microsoft.com/office/drawing/2014/main" id="{B37737DF-10F8-AC1D-009F-400621AB202B}"/>
                </a:ext>
              </a:extLst>
            </p:cNvPr>
            <p:cNvSpPr/>
            <p:nvPr/>
          </p:nvSpPr>
          <p:spPr bwMode="auto">
            <a:xfrm>
              <a:off x="1082870" y="2350651"/>
              <a:ext cx="1405593" cy="647635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600" dirty="0">
                  <a:latin typeface="+mj-lt"/>
                </a:rPr>
                <a:t>General Impression</a:t>
              </a:r>
            </a:p>
          </p:txBody>
        </p:sp>
        <p:sp>
          <p:nvSpPr>
            <p:cNvPr id="13" name="Textfeld 30">
              <a:extLst>
                <a:ext uri="{FF2B5EF4-FFF2-40B4-BE49-F238E27FC236}">
                  <a16:creationId xmlns:a16="http://schemas.microsoft.com/office/drawing/2014/main" id="{F61C7DB4-B76A-A32D-BA1B-01B93625AD44}"/>
                </a:ext>
              </a:extLst>
            </p:cNvPr>
            <p:cNvSpPr txBox="1"/>
            <p:nvPr/>
          </p:nvSpPr>
          <p:spPr bwMode="auto">
            <a:xfrm>
              <a:off x="2559521" y="1353071"/>
              <a:ext cx="735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dirty="0">
                  <a:latin typeface="+mj-lt"/>
                </a:rPr>
                <a:t>10%</a:t>
              </a:r>
              <a:endParaRPr dirty="0">
                <a:latin typeface="+mj-lt"/>
              </a:endParaRPr>
            </a:p>
          </p:txBody>
        </p:sp>
        <p:cxnSp>
          <p:nvCxnSpPr>
            <p:cNvPr id="15" name="Verbinder: gewinkelt 31">
              <a:extLst>
                <a:ext uri="{FF2B5EF4-FFF2-40B4-BE49-F238E27FC236}">
                  <a16:creationId xmlns:a16="http://schemas.microsoft.com/office/drawing/2014/main" id="{659F2F24-B802-FE3B-6C51-62BAAC3DB986}"/>
                </a:ext>
              </a:extLst>
            </p:cNvPr>
            <p:cNvCxnSpPr>
              <a:stCxn id="12" idx="0"/>
            </p:cNvCxnSpPr>
            <p:nvPr/>
          </p:nvCxnSpPr>
          <p:spPr bwMode="auto">
            <a:xfrm rot="5400000" flipH="1" flipV="1">
              <a:off x="2212028" y="908334"/>
              <a:ext cx="1015957" cy="1868678"/>
            </a:xfrm>
            <a:prstGeom prst="bentConnector2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6F6B69FE-C038-46C7-462E-EB9BD654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0E28A1-6F5F-EAF1-CCE6-E189B5770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FD353C-CFCA-40C7-0673-582B1A1C1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711F777F-5055-F1B9-9885-1D63DE3185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3A676B3-EE67-46C0-5AAD-F98D2BF4DE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1D20AA-BE1B-46B6-0DFE-69C6AE3197F9}"/>
              </a:ext>
            </a:extLst>
          </p:cNvPr>
          <p:cNvSpPr/>
          <p:nvPr/>
        </p:nvSpPr>
        <p:spPr>
          <a:xfrm>
            <a:off x="395536" y="3471665"/>
            <a:ext cx="4148604" cy="1236040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sz="1000" noProof="0" dirty="0"/>
          </a:p>
        </p:txBody>
      </p:sp>
    </p:spTree>
    <p:extLst>
      <p:ext uri="{BB962C8B-B14F-4D97-AF65-F5344CB8AC3E}">
        <p14:creationId xmlns:p14="http://schemas.microsoft.com/office/powerpoint/2010/main" val="93684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D8BD-100B-05E0-91B0-2AF5ACEB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F044459-1FC6-4EE1-D4FE-0CE46DAD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Requirements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D45AF3-17C5-184B-5E58-86BD28AAEB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6B7E08-2BF1-E9BA-E7FB-C23A59AAC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r>
              <a:rPr lang="en-US" sz="1600" dirty="0"/>
              <a:t>What are you </a:t>
            </a:r>
            <a:r>
              <a:rPr lang="en-US" sz="1600" dirty="0">
                <a:solidFill>
                  <a:srgbClr val="005293"/>
                </a:solidFill>
              </a:rPr>
              <a:t>required</a:t>
            </a:r>
            <a:r>
              <a:rPr lang="en-US" sz="1600" dirty="0"/>
              <a:t> to do?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en-US" sz="1600" dirty="0"/>
              <a:t>Show up (on time)</a:t>
            </a:r>
          </a:p>
          <a:p>
            <a:pPr marL="630900" lvl="1" indent="-342900" algn="just">
              <a:buFont typeface="+mj-lt"/>
              <a:buAutoNum type="arabicPeriod"/>
            </a:pP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en-US" sz="1600" dirty="0"/>
              <a:t>Briefly introduce your team (with your respective roles)</a:t>
            </a:r>
          </a:p>
          <a:p>
            <a:pPr marL="630900" lvl="1" indent="-342900" algn="just">
              <a:buFont typeface="+mj-lt"/>
              <a:buAutoNum type="arabicPeriod"/>
            </a:pP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en-US" sz="1600" dirty="0"/>
              <a:t>Describe your problem and the requirements	 (of your stakeholders)</a:t>
            </a:r>
          </a:p>
          <a:p>
            <a:pPr marL="630900" lvl="1" indent="-342900" algn="just">
              <a:buFont typeface="+mj-lt"/>
              <a:buAutoNum type="arabicPeriod"/>
            </a:pP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en-US" sz="1600" dirty="0"/>
              <a:t>Present your solution and its design</a:t>
            </a:r>
          </a:p>
          <a:p>
            <a:pPr marL="630900" lvl="1" indent="-342900" algn="just">
              <a:buFont typeface="+mj-lt"/>
              <a:buAutoNum type="arabicPeriod"/>
            </a:pPr>
            <a:endParaRPr lang="de-DE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de-DE" sz="1600" dirty="0"/>
              <a:t>Outline your approach and technologies used (or planned)</a:t>
            </a: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r>
              <a:rPr lang="en-US" sz="1600" dirty="0"/>
              <a:t>Show your results (or expected results) </a:t>
            </a:r>
            <a:r>
              <a:rPr lang="de-DE" sz="1600" dirty="0"/>
              <a:t>in relation to the problem introduced earlier</a:t>
            </a:r>
            <a:endParaRPr lang="en-US" sz="1600" dirty="0"/>
          </a:p>
          <a:p>
            <a:pPr marL="630900" lvl="1" indent="-342900" algn="just">
              <a:buFont typeface="+mj-lt"/>
              <a:buAutoNum type="arabicPeriod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21D5747-BD46-DD01-5B3F-97592BADE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BE6F885-8544-F906-E79F-111AA4AC57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63680E54-C2CB-EF2A-72E9-D822B3093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1" name="Graphic 10" descr="Lecturer with solid fill">
            <a:extLst>
              <a:ext uri="{FF2B5EF4-FFF2-40B4-BE49-F238E27FC236}">
                <a16:creationId xmlns:a16="http://schemas.microsoft.com/office/drawing/2014/main" id="{13976C9B-ECD6-2BCA-812D-4E561A41E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97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C2B5-781B-893E-F853-2B7CC351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F7500DF-7828-8302-3401-5D65B5B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Expectations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5530A2-7AAB-8FA1-B169-96C947FA34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97744E-E9CA-EE26-99D7-2028FA501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What are you </a:t>
            </a:r>
            <a:r>
              <a:rPr lang="en-US" sz="1600" dirty="0">
                <a:solidFill>
                  <a:srgbClr val="005293"/>
                </a:solidFill>
              </a:rPr>
              <a:t>expected</a:t>
            </a:r>
            <a:r>
              <a:rPr lang="en-US" sz="1600" dirty="0"/>
              <a:t> to do?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Be professional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Tailor your presentation to your audience </a:t>
            </a:r>
          </a:p>
          <a:p>
            <a:pPr lvl="2" indent="0" algn="just">
              <a:buNone/>
            </a:pPr>
            <a:r>
              <a:rPr lang="en-US" sz="1600" dirty="0">
                <a:sym typeface="Wingdings" panose="05000000000000000000" pitchFamily="2" charset="2"/>
              </a:rPr>
              <a:t>	</a:t>
            </a:r>
            <a:r>
              <a:rPr lang="en-US" sz="1400" dirty="0">
                <a:sym typeface="Wingdings" panose="05000000000000000000" pitchFamily="2" charset="2"/>
              </a:rPr>
              <a:t> We are your customers</a:t>
            </a:r>
          </a:p>
          <a:p>
            <a:pPr lvl="2" indent="0" algn="just">
              <a:buNone/>
            </a:pPr>
            <a:r>
              <a:rPr lang="en-US" sz="1400" dirty="0">
                <a:sym typeface="Wingdings" panose="05000000000000000000" pitchFamily="2" charset="2"/>
              </a:rPr>
              <a:t>	 You are an external consultancy group</a:t>
            </a: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Tell a concise story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prepared</a:t>
            </a: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2B76AF2E-DD05-5B7D-DBED-37F030182A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E69D7DE-9295-966B-FEDF-C958A42B60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1EBF95D3-B1B7-DDBE-7372-3750A3FF0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43902CD2-8191-41CC-D11A-E52FA22D1A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18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08A4-107A-8288-EFB5-255CBF7E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A45C0D0-0672-1459-4F06-00EBB924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83094E-2FB0-027F-B429-FDEBC8FAA1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C986AA-5666-3118-5ED1-F1018DC84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sz="1600" dirty="0"/>
              <a:t>What are you </a:t>
            </a:r>
            <a:r>
              <a:rPr lang="en-US" sz="1600" dirty="0">
                <a:solidFill>
                  <a:srgbClr val="005293"/>
                </a:solidFill>
              </a:rPr>
              <a:t>encouraged</a:t>
            </a:r>
            <a:r>
              <a:rPr lang="en-US" sz="1600" dirty="0"/>
              <a:t> to do?</a:t>
            </a: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creative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consistent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Create visually appealing slides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Face the (entire) audience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/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872527D0-15EC-A77A-41DC-203BE7A471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89DD22B-5A9C-5595-635A-51B00A903A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Graphic 8" descr="Presentation with bar chart with solid fill">
            <a:extLst>
              <a:ext uri="{FF2B5EF4-FFF2-40B4-BE49-F238E27FC236}">
                <a16:creationId xmlns:a16="http://schemas.microsoft.com/office/drawing/2014/main" id="{51AB4C9C-7183-BC91-F6FC-AB7F41DB3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160" y="626497"/>
            <a:ext cx="2132989" cy="2132989"/>
          </a:xfrm>
          <a:prstGeom prst="rect">
            <a:avLst/>
          </a:prstGeom>
        </p:spPr>
      </p:pic>
      <p:pic>
        <p:nvPicPr>
          <p:cNvPr id="10" name="Graphic 9" descr="Lecturer with solid fill">
            <a:extLst>
              <a:ext uri="{FF2B5EF4-FFF2-40B4-BE49-F238E27FC236}">
                <a16:creationId xmlns:a16="http://schemas.microsoft.com/office/drawing/2014/main" id="{103945F0-1E29-2337-991E-E817220C4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4934" y="2207494"/>
            <a:ext cx="2132989" cy="21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8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A45D-5875-B8A8-4516-F55D2484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1ABD27-B05B-BCC7-77E5-0D6B165D51D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algn="just"/>
            <a:r>
              <a:rPr lang="en-US" dirty="0">
                <a:sym typeface="Wingdings" panose="05000000000000000000" pitchFamily="2" charset="2"/>
              </a:rPr>
              <a:t>Who needs that many containers?	And Why?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Regular company or datacenter: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Dedicated (on-premise) servers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Even if large number of applications exist  managed directly by teams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Problem: requires know-how, hardware expensive, long setup time, dedicated personal needed, …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Solution  the cloud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What is the cloud?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Applications are hosted externally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Accessed over the internet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(Often) Large dedicated datacenters in strategic locations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Typically charge regular fees or  depending on usage</a:t>
            </a:r>
            <a:endParaRPr lang="en-US" dirty="0"/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/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13D1E7-3FDF-4B56-4760-62BCDEBD0F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8EA71581-1997-6CB6-12E4-044C068DCF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691EF3-69C2-6274-5422-EDAA6833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Examples</a:t>
            </a:r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AE958E-E9AE-6A92-6980-DEE6A6CF86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8558B2-2FF8-A78C-988D-BFD39FBC4B6A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 algn="just"/>
            <a:r>
              <a:rPr lang="en-US" sz="1200" dirty="0">
                <a:sym typeface="Wingdings" panose="05000000000000000000" pitchFamily="2" charset="2"/>
              </a:rPr>
              <a:t>Benefits (for users):</a:t>
            </a:r>
          </a:p>
          <a:p>
            <a:pPr algn="just"/>
            <a:r>
              <a:rPr lang="en-US" sz="1200" dirty="0">
                <a:sym typeface="Wingdings" panose="05000000000000000000" pitchFamily="2" charset="2"/>
              </a:rPr>
              <a:t>No know-how required (for hardware and hosting) &amp; no hardware costs, Fast/immediate setup, Managed externally  no personnel required, Accessible for small companies (even in emerging markets) or private users, Scaling</a:t>
            </a:r>
          </a:p>
          <a:p>
            <a:pPr algn="just"/>
            <a:r>
              <a:rPr lang="en-US" sz="1200" dirty="0">
                <a:sym typeface="Wingdings" panose="05000000000000000000" pitchFamily="2" charset="2"/>
              </a:rPr>
              <a:t>Problems (for users):</a:t>
            </a:r>
          </a:p>
          <a:p>
            <a:pPr algn="just"/>
            <a:r>
              <a:rPr lang="en-US" sz="1200" dirty="0">
                <a:sym typeface="Wingdings" panose="05000000000000000000" pitchFamily="2" charset="2"/>
              </a:rPr>
              <a:t>Dependent on internet access, Security and trust issues, Dependency on providers, Centralized hosting  single point of failure</a:t>
            </a:r>
          </a:p>
          <a:p>
            <a:pPr algn="just"/>
            <a:r>
              <a:rPr lang="en-US" sz="1200" dirty="0">
                <a:sym typeface="Wingdings" panose="05000000000000000000" pitchFamily="2" charset="2"/>
              </a:rPr>
              <a:t>Typical Services:</a:t>
            </a:r>
          </a:p>
          <a:p>
            <a:pPr algn="just"/>
            <a:r>
              <a:rPr lang="en-US" sz="1200" dirty="0">
                <a:sym typeface="Wingdings" panose="05000000000000000000" pitchFamily="2" charset="2"/>
              </a:rPr>
              <a:t>Infrastructure as a service (IaaS)  IT infrastructure (e.g., computing, storage, …), Platform as a service (PaaS)  Tools and services to deploy applications (e.g., OS, runtime env., …), Software as a Service (SaaS)  Fully functional applications (e.g., ERP, CRM, …)</a:t>
            </a:r>
          </a:p>
          <a:p>
            <a:pPr algn="just"/>
            <a:endParaRPr lang="en-US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4043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DD8B1-78DF-C8CA-E187-ECFB9D02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581E65-0C29-72DE-E3BA-CB627948D43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19091" y="1131590"/>
            <a:ext cx="8505818" cy="3600400"/>
          </a:xfrm>
        </p:spPr>
        <p:txBody>
          <a:bodyPr/>
          <a:lstStyle/>
          <a:p>
            <a:pPr marL="285750" indent="-285750"/>
            <a:endParaRPr lang="en-US" dirty="0">
              <a:sym typeface="Wingdings" panose="05000000000000000000" pitchFamily="2" charset="2"/>
            </a:endParaRP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Results:</a:t>
            </a:r>
          </a:p>
          <a:p>
            <a:pPr marL="285750" indent="-285750"/>
            <a:endParaRPr lang="en-US" dirty="0">
              <a:sym typeface="Wingdings" panose="05000000000000000000" pitchFamily="2" charset="2"/>
            </a:endParaRP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Before the migration, the congestion window size is consistent at values between 200 MB and 170 MB. </a:t>
            </a:r>
          </a:p>
          <a:p>
            <a:pPr marL="285750" indent="-285750"/>
            <a:endParaRPr lang="en-US" dirty="0">
              <a:sym typeface="Wingdings" panose="05000000000000000000" pitchFamily="2" charset="2"/>
            </a:endParaRP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After the migration, the congestion window size drops to values of around 150 MB for address translation.</a:t>
            </a: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Afterward, it stays consistent.</a:t>
            </a:r>
          </a:p>
          <a:p>
            <a:pPr marL="285750" indent="-285750"/>
            <a:endParaRPr lang="en-US" dirty="0">
              <a:sym typeface="Wingdings" panose="05000000000000000000" pitchFamily="2" charset="2"/>
            </a:endParaRP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For QUIC connection migration, the congestion window size drops to values of 50 KB immediately after</a:t>
            </a: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the migration. It then increases exponentially for about 5 seconds, since another slow start phase is initiated.</a:t>
            </a: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After this, the congestion window increases only linearly for the next 10 seconds. Most likely due to congestion</a:t>
            </a:r>
          </a:p>
          <a:p>
            <a:pPr marL="285750" indent="-285750"/>
            <a:r>
              <a:rPr lang="en-US" dirty="0">
                <a:sym typeface="Wingdings" panose="05000000000000000000" pitchFamily="2" charset="2"/>
              </a:rPr>
              <a:t>avoidance. Afterward, the congestion window size remains consistent.</a:t>
            </a: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/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D4945FC-6CC2-71F6-AC40-E81CBFBA01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A21D364E-453A-E363-18F4-7B6B71E593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2BFAC65-EE2B-60E9-9294-E1FDD7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Examples</a:t>
            </a:r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609233-FE88-CB96-1A40-203EAAFD4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5702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7DBB-191B-9A93-0AE5-6295F199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B0E8D78-4120-EEE5-268E-E66D5D5B7D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A530C0F-153F-5E0E-B58B-2D91F412F0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423040D-CB21-B5CE-3C3B-6971C864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Examples</a:t>
            </a:r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2B3ECE1-DB7E-EE3C-3E7C-E447CB0BE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Presentations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793E40-446C-A9D8-327E-D22F25AFA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 indent="0" algn="just">
              <a:buNone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/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B00B6-2EBD-6126-B277-B4053C59A1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62525" y="1131888"/>
            <a:ext cx="4181475" cy="3600450"/>
          </a:xfrm>
          <a:prstGeom prst="rect">
            <a:avLst/>
          </a:prstGeom>
        </p:spPr>
        <p:txBody>
          <a:bodyPr/>
          <a:lstStyle/>
          <a:p>
            <a:pPr algn="just"/>
            <a:endParaRPr lang="en-US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28A63-0C21-9794-59FB-88DA09BB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320259"/>
            <a:ext cx="5345055" cy="322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6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CE2-0143-0C93-8D5E-36C57868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17708A8-F90E-1900-195C-3CEF9A96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99491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6391-8932-FFA7-A395-060A16C5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20B411A-EE15-840B-3B67-5FC01AAC0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30" y="1142427"/>
            <a:ext cx="3050751" cy="305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3F3D01E-830A-C3FB-D806-9EDCF879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Guidelines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494463-EA99-557F-8ED8-385E216639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Project Documentation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2CCB6A-C84A-5BF7-C014-716DE59F7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5484974" cy="3600400"/>
          </a:xfrm>
        </p:spPr>
        <p:txBody>
          <a:bodyPr/>
          <a:lstStyle/>
          <a:p>
            <a:pPr algn="just"/>
            <a:r>
              <a:rPr lang="en-US" sz="1600" dirty="0"/>
              <a:t>What are you </a:t>
            </a:r>
            <a:r>
              <a:rPr lang="en-US" sz="1600" dirty="0">
                <a:solidFill>
                  <a:srgbClr val="005293"/>
                </a:solidFill>
              </a:rPr>
              <a:t>encouraged</a:t>
            </a:r>
            <a:r>
              <a:rPr lang="en-US" sz="1600" dirty="0"/>
              <a:t> to do?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creative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consistent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Create visually appealing figures and tables to support your text  “A good figure says more than a thousand words”</a:t>
            </a: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Be complete but short</a:t>
            </a:r>
          </a:p>
          <a:p>
            <a:pPr marL="573750" lvl="1" indent="-285750" algn="just"/>
            <a:r>
              <a:rPr lang="en-US" sz="1600" dirty="0">
                <a:sym typeface="Wingdings" panose="05000000000000000000" pitchFamily="2" charset="2"/>
              </a:rPr>
              <a:t>Let other read your documentation and ask them, if they understand it</a:t>
            </a: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2" indent="0" algn="just">
              <a:buNone/>
            </a:pPr>
            <a:endParaRPr lang="en-US" sz="1400" dirty="0">
              <a:sym typeface="Wingdings" panose="05000000000000000000" pitchFamily="2" charset="2"/>
            </a:endParaRPr>
          </a:p>
          <a:p>
            <a:pPr marL="573750" lvl="1" indent="-28575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A9D8521F-49D4-60E2-3C72-3DAE1E7F2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A62B89-2CE4-AAB0-A067-85058FD2E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D230A7-AC37-DBD7-C26A-8CE57AFAFD76}"/>
              </a:ext>
            </a:extLst>
          </p:cNvPr>
          <p:cNvSpPr txBox="1"/>
          <p:nvPr/>
        </p:nvSpPr>
        <p:spPr>
          <a:xfrm>
            <a:off x="6296065" y="4011910"/>
            <a:ext cx="2052074" cy="362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Source: https://png.pngtree.com/png-vector/20190628/ourmid/pngtree-document-icon-for-your-project-png-image_1519902.jpg</a:t>
            </a:r>
          </a:p>
        </p:txBody>
      </p:sp>
    </p:spTree>
    <p:extLst>
      <p:ext uri="{BB962C8B-B14F-4D97-AF65-F5344CB8AC3E}">
        <p14:creationId xmlns:p14="http://schemas.microsoft.com/office/powerpoint/2010/main" val="3995697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488572-E3F6-6BC0-5219-0EB5A2BD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203598"/>
            <a:ext cx="5340958" cy="3095625"/>
          </a:xfrm>
        </p:spPr>
        <p:txBody>
          <a:bodyPr/>
          <a:lstStyle/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Put all </a:t>
            </a:r>
            <a:r>
              <a:rPr lang="de-DE" dirty="0" err="1"/>
              <a:t>your</a:t>
            </a:r>
            <a:r>
              <a:rPr lang="de-DE" dirty="0"/>
              <a:t> Code in a ZIP </a:t>
            </a:r>
            <a:r>
              <a:rPr lang="de-DE" dirty="0" err="1"/>
              <a:t>file</a:t>
            </a:r>
            <a:r>
              <a:rPr lang="de-DE" dirty="0"/>
              <a:t>.</a:t>
            </a:r>
          </a:p>
          <a:p>
            <a:pPr marL="646113" lvl="2" indent="-285750"/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not grade code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not send in </a:t>
            </a:r>
            <a:r>
              <a:rPr lang="de-DE" dirty="0" err="1"/>
              <a:t>the</a:t>
            </a:r>
            <a:r>
              <a:rPr lang="de-DE" dirty="0"/>
              <a:t> ZIP </a:t>
            </a:r>
            <a:r>
              <a:rPr lang="de-DE" dirty="0" err="1"/>
              <a:t>file</a:t>
            </a:r>
            <a:r>
              <a:rPr lang="de-DE" dirty="0"/>
              <a:t>.</a:t>
            </a:r>
          </a:p>
          <a:p>
            <a:pPr marL="646113" lvl="2" indent="-285750"/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ZIP </a:t>
            </a:r>
            <a:r>
              <a:rPr lang="de-DE" dirty="0" err="1"/>
              <a:t>file</a:t>
            </a:r>
            <a:r>
              <a:rPr lang="de-DE" dirty="0"/>
              <a:t>,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a README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explaining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code.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readable</a:t>
            </a:r>
            <a:r>
              <a:rPr lang="de-DE" dirty="0"/>
              <a:t> and </a:t>
            </a:r>
            <a:r>
              <a:rPr lang="de-DE" dirty="0" err="1"/>
              <a:t>understandable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possible (e.g.,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b="1" dirty="0" err="1"/>
              <a:t>comments</a:t>
            </a:r>
            <a:r>
              <a:rPr lang="de-DE" dirty="0"/>
              <a:t>) </a:t>
            </a:r>
            <a:r>
              <a:rPr lang="de-DE" dirty="0">
                <a:sym typeface="Wingdings" panose="05000000000000000000" pitchFamily="2" charset="2"/>
              </a:rPr>
              <a:t> also </a:t>
            </a:r>
            <a:r>
              <a:rPr lang="de-DE" dirty="0" err="1">
                <a:sym typeface="Wingdings" panose="05000000000000000000" pitchFamily="2" charset="2"/>
              </a:rPr>
              <a:t>helps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with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final </a:t>
            </a:r>
            <a:r>
              <a:rPr lang="de-DE" dirty="0" err="1">
                <a:sym typeface="Wingdings" panose="05000000000000000000" pitchFamily="2" charset="2"/>
              </a:rPr>
              <a:t>documentation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In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GitHub </a:t>
            </a:r>
            <a:r>
              <a:rPr lang="de-DE" dirty="0" err="1"/>
              <a:t>repository</a:t>
            </a:r>
            <a:r>
              <a:rPr lang="de-DE" dirty="0"/>
              <a:t>:</a:t>
            </a:r>
          </a:p>
          <a:p>
            <a:pPr marL="646113" lvl="2" indent="-285750"/>
            <a:r>
              <a:rPr lang="de-DE" dirty="0"/>
              <a:t>Be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b="1" dirty="0"/>
              <a:t>private</a:t>
            </a:r>
            <a:r>
              <a:rPr lang="de-DE" dirty="0"/>
              <a:t>.</a:t>
            </a:r>
          </a:p>
          <a:p>
            <a:pPr marL="646113" lvl="2" indent="-285750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invite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after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finished</a:t>
            </a:r>
            <a:r>
              <a:rPr lang="de-DE" dirty="0"/>
              <a:t>.</a:t>
            </a:r>
          </a:p>
          <a:p>
            <a:pPr marL="646113" lvl="2" indent="-285750"/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b="1" dirty="0" err="1">
                <a:solidFill>
                  <a:srgbClr val="FF0000"/>
                </a:solidFill>
              </a:rPr>
              <a:t>no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user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names</a:t>
            </a:r>
            <a:r>
              <a:rPr lang="de-DE" b="1" dirty="0">
                <a:solidFill>
                  <a:srgbClr val="FF0000"/>
                </a:solidFill>
              </a:rPr>
              <a:t>, </a:t>
            </a:r>
            <a:r>
              <a:rPr lang="de-DE" b="1" dirty="0" err="1">
                <a:solidFill>
                  <a:srgbClr val="FF0000"/>
                </a:solidFill>
              </a:rPr>
              <a:t>passwords</a:t>
            </a:r>
            <a:r>
              <a:rPr lang="de-DE" b="1" dirty="0">
                <a:solidFill>
                  <a:srgbClr val="FF0000"/>
                </a:solidFill>
              </a:rPr>
              <a:t>, </a:t>
            </a:r>
            <a:r>
              <a:rPr lang="de-DE" b="1" dirty="0" err="1">
                <a:solidFill>
                  <a:srgbClr val="FF0000"/>
                </a:solidFill>
              </a:rPr>
              <a:t>or</a:t>
            </a:r>
            <a:r>
              <a:rPr lang="de-DE" b="1" dirty="0">
                <a:solidFill>
                  <a:srgbClr val="FF0000"/>
                </a:solidFill>
              </a:rPr>
              <a:t> virtual </a:t>
            </a:r>
            <a:r>
              <a:rPr lang="de-DE" b="1" dirty="0" err="1">
                <a:solidFill>
                  <a:srgbClr val="FF0000"/>
                </a:solidFill>
              </a:rPr>
              <a:t>machine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hostnames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</a:t>
            </a:r>
            <a:r>
              <a:rPr lang="de-DE" dirty="0" err="1"/>
              <a:t>anywhere</a:t>
            </a:r>
            <a:r>
              <a:rPr lang="de-DE" dirty="0"/>
              <a:t>.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9DF6072-AE55-CAA2-E32E-D7FDD77C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604404"/>
            <a:ext cx="8508999" cy="30777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2000" b="1" dirty="0">
                <a:solidFill>
                  <a:schemeClr val="accent1"/>
                </a:solidFill>
              </a:rPr>
              <a:t>Code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EBA148-6808-A111-0979-2A1E997217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8EEC6-9AB8-209B-BAB1-D8C96848C9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B51083A1-C1EC-1F9C-2433-F1B6081D59EC}"/>
              </a:ext>
            </a:extLst>
          </p:cNvPr>
          <p:cNvSpPr txBox="1">
            <a:spLocks/>
          </p:cNvSpPr>
          <p:nvPr/>
        </p:nvSpPr>
        <p:spPr>
          <a:xfrm>
            <a:off x="251520" y="284589"/>
            <a:ext cx="7416825" cy="2160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Documentation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6C91DC-17FA-112B-EC6C-113E29CC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021" y="1471639"/>
            <a:ext cx="252028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6C4129D-6915-E2B6-FF0C-5FC1895A77E2}"/>
              </a:ext>
            </a:extLst>
          </p:cNvPr>
          <p:cNvSpPr txBox="1"/>
          <p:nvPr/>
        </p:nvSpPr>
        <p:spPr>
          <a:xfrm>
            <a:off x="5940152" y="4094267"/>
            <a:ext cx="295201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dirty="0">
                <a:solidFill>
                  <a:schemeClr val="bg1">
                    <a:lumMod val="75000"/>
                  </a:schemeClr>
                </a:solidFill>
              </a:rPr>
              <a:t>Source: https://cdn-icons-png.flaticon.com/512/155/155355.png</a:t>
            </a:r>
          </a:p>
        </p:txBody>
      </p:sp>
    </p:spTree>
    <p:extLst>
      <p:ext uri="{BB962C8B-B14F-4D97-AF65-F5344CB8AC3E}">
        <p14:creationId xmlns:p14="http://schemas.microsoft.com/office/powerpoint/2010/main" val="3412702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59E6-A478-FF5A-E9EE-8628A4AE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3B98846-6AD2-1D28-D6A7-BFCA17BCE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8810" y="1076707"/>
            <a:ext cx="2732843" cy="271917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27A327-A80C-A1EF-47FE-EF10807EEC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8369" y="987574"/>
            <a:ext cx="5427131" cy="360040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461963" lvl="1" indent="-28575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We can not grade parts of your project that you did not mention in the PDF file.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In your documentation, you should </a:t>
            </a:r>
            <a:r>
              <a:rPr lang="en-US" sz="1300" b="1" dirty="0"/>
              <a:t>reference your code</a:t>
            </a:r>
            <a:r>
              <a:rPr lang="en-US" sz="1300" dirty="0"/>
              <a:t>.</a:t>
            </a:r>
          </a:p>
          <a:p>
            <a:pPr marL="646113" lvl="2" indent="-28575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You can not reference any code or data other than the code and data sent in the ZIP file.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You are welcome to directly include important code passages in the documentation.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documentation should reference scientific articles or internet sources.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If you are using </a:t>
            </a:r>
            <a:r>
              <a:rPr lang="en-US" sz="1300" b="1" dirty="0"/>
              <a:t>AI for checking grammar</a:t>
            </a:r>
            <a:r>
              <a:rPr lang="en-US" sz="1300" dirty="0"/>
              <a:t>, please include a short “Use of AI Tools” section.</a:t>
            </a:r>
          </a:p>
          <a:p>
            <a:pPr marL="646113" lvl="2" indent="-28575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2-3 sentences on the AI tools you have used and for what.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You are not allowed to use AI tools to generate whole sentences or text passages. Otherwise, there will be consequences on the grading.</a:t>
            </a:r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documentation should include “storytelling” (see Document Structure).</a:t>
            </a:r>
          </a:p>
          <a:p>
            <a:pPr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300" dirty="0"/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461963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99E53D-D3A4-0CF2-0D05-4E4A5C67C0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74934" y="4854985"/>
            <a:ext cx="2052074" cy="273844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5F2249-B736-FB30-F51F-409201488E9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4854985"/>
            <a:ext cx="6464280" cy="273844"/>
          </a:xfrm>
        </p:spPr>
        <p:txBody>
          <a:bodyPr vert="horz" lIns="0" tIns="45720" rIns="0" bIns="45720" rtlCol="0"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kern="1200">
                <a:latin typeface="Arial" charset="0"/>
                <a:ea typeface="+mn-ea"/>
                <a:cs typeface="Arial" charset="0"/>
              </a:rPr>
              <a:t>Next Generation Data Center Operations – 05 Expectations &amp; Requirements 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FA103C8A-1FF8-7B06-59B5-DF27E5A31382}"/>
              </a:ext>
            </a:extLst>
          </p:cNvPr>
          <p:cNvSpPr txBox="1">
            <a:spLocks/>
          </p:cNvSpPr>
          <p:nvPr/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000" b="1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Project Documentation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91F1EF9B-07CC-90A9-372F-B269CBB47DFC}"/>
              </a:ext>
            </a:extLst>
          </p:cNvPr>
          <p:cNvSpPr txBox="1">
            <a:spLocks/>
          </p:cNvSpPr>
          <p:nvPr/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Documentation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64233B-1698-C56B-B446-EDCB1944A76E}"/>
              </a:ext>
            </a:extLst>
          </p:cNvPr>
          <p:cNvSpPr txBox="1"/>
          <p:nvPr/>
        </p:nvSpPr>
        <p:spPr>
          <a:xfrm>
            <a:off x="5852515" y="3794319"/>
            <a:ext cx="2945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dirty="0">
                <a:solidFill>
                  <a:schemeClr val="bg1">
                    <a:lumMod val="75000"/>
                  </a:schemeClr>
                </a:solidFill>
              </a:rPr>
              <a:t>Source: https://img.freepik.com/free-vector/document-vector-colorful-design_341269-1262.jpg?semt=ais_hybrid&amp;w=740&amp;q=80</a:t>
            </a:r>
          </a:p>
        </p:txBody>
      </p:sp>
    </p:spTree>
    <p:extLst>
      <p:ext uri="{BB962C8B-B14F-4D97-AF65-F5344CB8AC3E}">
        <p14:creationId xmlns:p14="http://schemas.microsoft.com/office/powerpoint/2010/main" val="942279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8017-9936-F286-5E2E-C58F5A0E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F15B68C-136D-17C4-FE36-3203865B3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1" y="1365453"/>
            <a:ext cx="8508999" cy="3095625"/>
          </a:xfrm>
        </p:spPr>
        <p:txBody>
          <a:bodyPr/>
          <a:lstStyle/>
          <a:p>
            <a:pPr marL="519113" lvl="1" indent="-342900">
              <a:buFont typeface="+mj-lt"/>
              <a:buAutoNum type="arabicPeriod"/>
            </a:pPr>
            <a:r>
              <a:rPr lang="de-DE" b="1" dirty="0" err="1"/>
              <a:t>Introduction</a:t>
            </a:r>
            <a:br>
              <a:rPr lang="de-DE" b="1" dirty="0"/>
            </a:br>
            <a:endParaRPr lang="de-DE" b="1" dirty="0"/>
          </a:p>
          <a:p>
            <a:pPr marL="703263" lvl="2" indent="-342900"/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on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?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statement</a:t>
            </a:r>
            <a:r>
              <a:rPr lang="de-DE" dirty="0"/>
              <a:t>?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motivation</a:t>
            </a:r>
            <a:r>
              <a:rPr lang="de-DE" dirty="0"/>
              <a:t>?</a:t>
            </a:r>
          </a:p>
          <a:p>
            <a:pPr marL="703263" lvl="2" indent="-342900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? -&gt;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expert interview.</a:t>
            </a:r>
          </a:p>
          <a:p>
            <a:pPr marL="703263" lvl="2" indent="-342900"/>
            <a:r>
              <a:rPr lang="de-DE" dirty="0"/>
              <a:t>At </a:t>
            </a:r>
            <a:r>
              <a:rPr lang="de-DE" dirty="0" err="1"/>
              <a:t>the</a:t>
            </a:r>
            <a:r>
              <a:rPr lang="de-DE" dirty="0"/>
              <a:t>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introduction</a:t>
            </a:r>
            <a:r>
              <a:rPr lang="de-DE" dirty="0"/>
              <a:t>, </a:t>
            </a:r>
            <a:r>
              <a:rPr lang="de-DE" dirty="0" err="1"/>
              <a:t>include</a:t>
            </a:r>
            <a:r>
              <a:rPr lang="de-DE" dirty="0"/>
              <a:t> a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document</a:t>
            </a:r>
            <a:r>
              <a:rPr lang="de-DE" dirty="0"/>
              <a:t>.</a:t>
            </a:r>
          </a:p>
          <a:p>
            <a:pPr marL="703263" lvl="2" indent="-342900"/>
            <a:endParaRPr lang="de-DE" dirty="0"/>
          </a:p>
          <a:p>
            <a:pPr marL="519113" lvl="1" indent="-342900">
              <a:buFont typeface="+mj-lt"/>
              <a:buAutoNum type="arabicPeriod"/>
            </a:pPr>
            <a:r>
              <a:rPr lang="en-US" b="1" dirty="0"/>
              <a:t>Team Introduction</a:t>
            </a:r>
          </a:p>
          <a:p>
            <a:pPr marL="519113" lvl="1" indent="-342900">
              <a:buFont typeface="+mj-lt"/>
              <a:buAutoNum type="arabicPeriod"/>
            </a:pPr>
            <a:endParaRPr lang="en-US" b="1" dirty="0"/>
          </a:p>
          <a:p>
            <a:pPr marL="646113" lvl="2" indent="-285750"/>
            <a:r>
              <a:rPr lang="en-US" dirty="0"/>
              <a:t>Who had which role? -&gt; In regard to the practical course.</a:t>
            </a:r>
            <a:endParaRPr lang="de-DE" dirty="0"/>
          </a:p>
          <a:p>
            <a:pPr marL="646113" lvl="2" indent="-285750"/>
            <a:r>
              <a:rPr lang="de-DE" dirty="0"/>
              <a:t>Not: „I am </a:t>
            </a:r>
            <a:r>
              <a:rPr lang="de-DE" dirty="0" err="1"/>
              <a:t>studying</a:t>
            </a:r>
            <a:r>
              <a:rPr lang="de-DE" dirty="0"/>
              <a:t> Information Systems in </a:t>
            </a:r>
            <a:r>
              <a:rPr lang="de-DE" dirty="0" err="1"/>
              <a:t>my</a:t>
            </a:r>
            <a:r>
              <a:rPr lang="de-DE" dirty="0"/>
              <a:t> 3rd </a:t>
            </a:r>
            <a:r>
              <a:rPr lang="de-DE" dirty="0" err="1"/>
              <a:t>semester</a:t>
            </a:r>
            <a:r>
              <a:rPr lang="de-DE" dirty="0"/>
              <a:t>.“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D9891C-A902-7B30-E1CC-58548C3F61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26DF2-AA30-5EC6-AF32-53EBF989B0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C134D376-C36C-4ACF-26AE-7753DABC0B37}"/>
              </a:ext>
            </a:extLst>
          </p:cNvPr>
          <p:cNvSpPr txBox="1">
            <a:spLocks/>
          </p:cNvSpPr>
          <p:nvPr/>
        </p:nvSpPr>
        <p:spPr>
          <a:xfrm>
            <a:off x="311162" y="604404"/>
            <a:ext cx="85089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2000" b="1" dirty="0" err="1">
                <a:solidFill>
                  <a:schemeClr val="accent1"/>
                </a:solidFill>
              </a:rPr>
              <a:t>Documentation</a:t>
            </a:r>
            <a:r>
              <a:rPr lang="de-DE" sz="2000" b="1" dirty="0">
                <a:solidFill>
                  <a:schemeClr val="accent1"/>
                </a:solidFill>
              </a:rPr>
              <a:t> </a:t>
            </a:r>
            <a:r>
              <a:rPr lang="de-DE" sz="2000" b="1" dirty="0" err="1">
                <a:solidFill>
                  <a:schemeClr val="accent1"/>
                </a:solidFill>
              </a:rPr>
              <a:t>Structure</a:t>
            </a:r>
            <a:endParaRPr lang="de-DE" sz="2000" b="1" dirty="0">
              <a:solidFill>
                <a:schemeClr val="accent1"/>
              </a:solidFill>
            </a:endParaRP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4FB01711-DB14-ECB3-631A-2419BE01C4A4}"/>
              </a:ext>
            </a:extLst>
          </p:cNvPr>
          <p:cNvSpPr txBox="1">
            <a:spLocks/>
          </p:cNvSpPr>
          <p:nvPr/>
        </p:nvSpPr>
        <p:spPr>
          <a:xfrm>
            <a:off x="251520" y="284589"/>
            <a:ext cx="7416825" cy="2160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679549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61E7-1629-9FA1-FA8B-3CEE8575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D9A8281-5C98-D65F-F070-C269CA0D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09" y="1316497"/>
            <a:ext cx="8508999" cy="3095625"/>
          </a:xfrm>
        </p:spPr>
        <p:txBody>
          <a:bodyPr/>
          <a:lstStyle/>
          <a:p>
            <a:pPr marL="519113" lvl="1" indent="-342900">
              <a:buFont typeface="+mj-lt"/>
              <a:buAutoNum type="arabicPeriod" startAt="3"/>
            </a:pPr>
            <a:r>
              <a:rPr lang="de-DE" b="1" dirty="0"/>
              <a:t>Background</a:t>
            </a:r>
            <a:br>
              <a:rPr lang="de-DE" b="1" dirty="0"/>
            </a:br>
            <a:endParaRPr lang="de-DE" b="1" dirty="0"/>
          </a:p>
          <a:p>
            <a:pPr marL="703263" lvl="2" indent="-342900"/>
            <a:r>
              <a:rPr lang="de-DE" dirty="0"/>
              <a:t>Technical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aware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reading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chapters</a:t>
            </a:r>
            <a:r>
              <a:rPr lang="de-DE" dirty="0"/>
              <a:t>.</a:t>
            </a:r>
          </a:p>
          <a:p>
            <a:pPr marL="703263" lvl="2" indent="-342900"/>
            <a:endParaRPr lang="de-DE" dirty="0"/>
          </a:p>
          <a:p>
            <a:pPr marL="519113" lvl="1" indent="-342900">
              <a:buFont typeface="+mj-lt"/>
              <a:buAutoNum type="arabicPeriod" startAt="3"/>
            </a:pPr>
            <a:r>
              <a:rPr lang="en-US" b="1" dirty="0"/>
              <a:t>Solution Design</a:t>
            </a:r>
          </a:p>
          <a:p>
            <a:pPr marL="519113" lvl="1" indent="-342900">
              <a:buFont typeface="+mj-lt"/>
              <a:buAutoNum type="arabicPeriod" startAt="3"/>
            </a:pPr>
            <a:endParaRPr lang="en-US" b="1" dirty="0"/>
          </a:p>
          <a:p>
            <a:pPr marL="646113" lvl="2" indent="-285750"/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different </a:t>
            </a:r>
            <a:r>
              <a:rPr lang="de-DE" dirty="0" err="1"/>
              <a:t>technical</a:t>
            </a:r>
            <a:r>
              <a:rPr lang="de-DE" dirty="0"/>
              <a:t> </a:t>
            </a:r>
            <a:r>
              <a:rPr lang="de-DE" dirty="0" err="1"/>
              <a:t>components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.</a:t>
            </a:r>
          </a:p>
          <a:p>
            <a:pPr marL="646113" lvl="2" indent="-285750"/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a quick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built</a:t>
            </a:r>
            <a:r>
              <a:rPr lang="de-DE" dirty="0"/>
              <a:t>!</a:t>
            </a:r>
          </a:p>
          <a:p>
            <a:pPr lvl="1" indent="0">
              <a:buNone/>
            </a:pPr>
            <a:endParaRPr lang="de-DE" dirty="0"/>
          </a:p>
          <a:p>
            <a:pPr marL="519113" lvl="1" indent="-342900">
              <a:buFont typeface="+mj-lt"/>
              <a:buAutoNum type="arabicPeriod" startAt="5"/>
            </a:pPr>
            <a:r>
              <a:rPr lang="de-DE" b="1" dirty="0"/>
              <a:t>Implementation</a:t>
            </a:r>
          </a:p>
          <a:p>
            <a:pPr marL="519113" lvl="1" indent="-342900">
              <a:buFont typeface="+mj-lt"/>
              <a:buAutoNum type="arabicPeriod" startAt="5"/>
            </a:pPr>
            <a:endParaRPr lang="de-DE" b="1" dirty="0"/>
          </a:p>
          <a:p>
            <a:pPr marL="703263" lvl="2" indent="-342900"/>
            <a:r>
              <a:rPr lang="de-DE" dirty="0"/>
              <a:t>A </a:t>
            </a:r>
            <a:r>
              <a:rPr lang="de-DE" dirty="0" err="1"/>
              <a:t>deep-dive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technically</a:t>
            </a:r>
            <a:r>
              <a:rPr lang="de-DE" dirty="0"/>
              <a:t> </a:t>
            </a:r>
            <a:r>
              <a:rPr lang="de-DE" dirty="0" err="1"/>
              <a:t>realized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design.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A92F41-DC62-6E02-EBEF-62DAEA0197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1D766A-6ACC-622F-D881-B8A2647069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9614949E-3A7D-CFD6-B368-5053A71D7DC3}"/>
              </a:ext>
            </a:extLst>
          </p:cNvPr>
          <p:cNvSpPr txBox="1">
            <a:spLocks/>
          </p:cNvSpPr>
          <p:nvPr/>
        </p:nvSpPr>
        <p:spPr>
          <a:xfrm>
            <a:off x="311162" y="604404"/>
            <a:ext cx="85089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2000" b="1" dirty="0" err="1">
                <a:solidFill>
                  <a:schemeClr val="accent1"/>
                </a:solidFill>
              </a:rPr>
              <a:t>Documentation</a:t>
            </a:r>
            <a:r>
              <a:rPr lang="de-DE" sz="2000" b="1" dirty="0">
                <a:solidFill>
                  <a:schemeClr val="accent1"/>
                </a:solidFill>
              </a:rPr>
              <a:t> </a:t>
            </a:r>
            <a:r>
              <a:rPr lang="de-DE" sz="2000" b="1" dirty="0" err="1">
                <a:solidFill>
                  <a:schemeClr val="accent1"/>
                </a:solidFill>
              </a:rPr>
              <a:t>Structure</a:t>
            </a:r>
            <a:endParaRPr lang="de-DE" sz="2000" b="1" dirty="0">
              <a:solidFill>
                <a:schemeClr val="accent1"/>
              </a:solidFill>
            </a:endParaRP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DBD3C81D-F16A-D3E4-48D6-0F43D95BE383}"/>
              </a:ext>
            </a:extLst>
          </p:cNvPr>
          <p:cNvSpPr txBox="1">
            <a:spLocks/>
          </p:cNvSpPr>
          <p:nvPr/>
        </p:nvSpPr>
        <p:spPr>
          <a:xfrm>
            <a:off x="251520" y="284589"/>
            <a:ext cx="7416825" cy="2160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88440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2CE1-DCA8-3A4E-308C-4590224C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CF6F6FC-12C4-F7C7-FFFC-F8FF4FBD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09" y="1377475"/>
            <a:ext cx="8508999" cy="3095625"/>
          </a:xfrm>
        </p:spPr>
        <p:txBody>
          <a:bodyPr/>
          <a:lstStyle/>
          <a:p>
            <a:pPr marL="519113" lvl="1" indent="-342900">
              <a:buFont typeface="+mj-lt"/>
              <a:buAutoNum type="arabicPeriod" startAt="6"/>
            </a:pPr>
            <a:r>
              <a:rPr lang="de-DE" b="1" dirty="0"/>
              <a:t>Technical Evaluation</a:t>
            </a:r>
            <a:br>
              <a:rPr lang="de-DE" b="1" dirty="0"/>
            </a:br>
            <a:endParaRPr lang="de-DE" b="1" dirty="0"/>
          </a:p>
          <a:p>
            <a:pPr marL="703263" lvl="2" indent="-342900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possible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.</a:t>
            </a:r>
          </a:p>
          <a:p>
            <a:pPr marL="703263" lvl="2" indent="-342900"/>
            <a:r>
              <a:rPr lang="de-DE" dirty="0"/>
              <a:t>Quantitative Experiments, </a:t>
            </a:r>
            <a:r>
              <a:rPr lang="de-DE" dirty="0" err="1"/>
              <a:t>including</a:t>
            </a:r>
            <a:r>
              <a:rPr lang="de-DE" dirty="0"/>
              <a:t> a </a:t>
            </a:r>
            <a:r>
              <a:rPr lang="de-DE" dirty="0" err="1"/>
              <a:t>research</a:t>
            </a:r>
            <a:r>
              <a:rPr lang="de-DE" dirty="0"/>
              <a:t> design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.</a:t>
            </a:r>
          </a:p>
          <a:p>
            <a:pPr marL="703263" lvl="2" indent="-342900"/>
            <a:r>
              <a:rPr lang="de-DE" dirty="0"/>
              <a:t>For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high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LLM in </a:t>
            </a:r>
            <a:r>
              <a:rPr lang="de-DE" dirty="0" err="1"/>
              <a:t>doing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?</a:t>
            </a:r>
          </a:p>
          <a:p>
            <a:pPr marL="703263" lvl="2" indent="-342900"/>
            <a:r>
              <a:rPr lang="de-DE" dirty="0"/>
              <a:t>Not: „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managed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successfully</a:t>
            </a:r>
            <a:r>
              <a:rPr lang="de-DE" dirty="0"/>
              <a:t> </a:t>
            </a:r>
            <a:r>
              <a:rPr lang="de-DE" dirty="0" err="1"/>
              <a:t>implement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design.“</a:t>
            </a:r>
          </a:p>
          <a:p>
            <a:pPr marL="703263" lvl="2" indent="-342900"/>
            <a:endParaRPr lang="de-DE" dirty="0"/>
          </a:p>
          <a:p>
            <a:pPr marL="519113" lvl="1" indent="-342900">
              <a:buFont typeface="+mj-lt"/>
              <a:buAutoNum type="arabicPeriod" startAt="6"/>
            </a:pPr>
            <a:r>
              <a:rPr lang="en-US" b="1" dirty="0"/>
              <a:t>Conclusion</a:t>
            </a:r>
          </a:p>
          <a:p>
            <a:pPr marL="519113" lvl="1" indent="-342900">
              <a:buFont typeface="+mj-lt"/>
              <a:buAutoNum type="arabicPeriod" startAt="6"/>
            </a:pPr>
            <a:endParaRPr lang="en-US" b="1" dirty="0"/>
          </a:p>
          <a:p>
            <a:pPr lvl="1" indent="0">
              <a:buNone/>
            </a:pPr>
            <a:endParaRPr lang="en-US" b="1" dirty="0"/>
          </a:p>
          <a:p>
            <a:pPr lvl="1" indent="0">
              <a:buNone/>
            </a:pPr>
            <a:r>
              <a:rPr lang="en-US" dirty="0"/>
              <a:t>If you have any questions, please don’t hesitate to message us.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3D6CE8-7508-18A3-22DE-BD58C5E936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2F42DA-3A38-E69F-E9F7-6D5DAA9AA2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Next Generation Data Center Operations – 05 Expectations &amp; Requirements 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4A2E58B8-3883-8C74-F4B1-28B81DD1FF62}"/>
              </a:ext>
            </a:extLst>
          </p:cNvPr>
          <p:cNvSpPr txBox="1">
            <a:spLocks/>
          </p:cNvSpPr>
          <p:nvPr/>
        </p:nvSpPr>
        <p:spPr>
          <a:xfrm>
            <a:off x="311162" y="604404"/>
            <a:ext cx="85089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2000" b="1" dirty="0" err="1">
                <a:solidFill>
                  <a:schemeClr val="accent1"/>
                </a:solidFill>
              </a:rPr>
              <a:t>Documentation</a:t>
            </a:r>
            <a:r>
              <a:rPr lang="de-DE" sz="2000" b="1" dirty="0">
                <a:solidFill>
                  <a:schemeClr val="accent1"/>
                </a:solidFill>
              </a:rPr>
              <a:t> </a:t>
            </a:r>
            <a:r>
              <a:rPr lang="de-DE" sz="2000" b="1" dirty="0" err="1">
                <a:solidFill>
                  <a:schemeClr val="accent1"/>
                </a:solidFill>
              </a:rPr>
              <a:t>Structure</a:t>
            </a:r>
            <a:endParaRPr lang="de-DE" sz="2000" b="1" dirty="0">
              <a:solidFill>
                <a:schemeClr val="accent1"/>
              </a:solidFill>
            </a:endParaRP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104401E-9705-87AF-013F-F5DEA4C80F89}"/>
              </a:ext>
            </a:extLst>
          </p:cNvPr>
          <p:cNvSpPr txBox="1">
            <a:spLocks/>
          </p:cNvSpPr>
          <p:nvPr/>
        </p:nvSpPr>
        <p:spPr>
          <a:xfrm>
            <a:off x="251520" y="284589"/>
            <a:ext cx="7416825" cy="2160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85436318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Ohne Lehrstuhl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CF49AD9-0A80-4C34-AC08-9FDB6687BF92}"/>
    </a:ext>
  </a:extLst>
</a:theme>
</file>

<file path=ppt/theme/theme2.xml><?xml version="1.0" encoding="utf-8"?>
<a:theme xmlns:a="http://schemas.openxmlformats.org/drawingml/2006/main" name="Kapiteltrenner bunt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3.xml><?xml version="1.0" encoding="utf-8"?>
<a:theme xmlns:a="http://schemas.openxmlformats.org/drawingml/2006/main" name="Titel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1FABF2E0-D3D5-4A9B-A83C-FD7216ECBF2D}"/>
    </a:ext>
  </a:extLst>
</a:theme>
</file>

<file path=ppt/theme/theme4.xml><?xml version="1.0" encoding="utf-8"?>
<a:theme xmlns:a="http://schemas.openxmlformats.org/drawingml/2006/main" name="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5.xml><?xml version="1.0" encoding="utf-8"?>
<a:theme xmlns:a="http://schemas.openxmlformats.org/drawingml/2006/main" name="TUM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83304FFD-6A5E-442F-80E3-AA2468BAFA22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43FBA60C-AA89-4C79-9DBF-F0A40B5FBB24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ommentar xmlns="2dabed69-2cd2-4795-9d32-589774afbfa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ECA252503CEBA4F96E24E33BFD98D17" ma:contentTypeVersion="5" ma:contentTypeDescription="Ein neues Dokument erstellen." ma:contentTypeScope="" ma:versionID="e513260cd94595724d6723e994e07dce">
  <xsd:schema xmlns:xsd="http://www.w3.org/2001/XMLSchema" xmlns:xs="http://www.w3.org/2001/XMLSchema" xmlns:p="http://schemas.microsoft.com/office/2006/metadata/properties" xmlns:ns2="2dabed69-2cd2-4795-9d32-589774afbfaf" targetNamespace="http://schemas.microsoft.com/office/2006/metadata/properties" ma:root="true" ma:fieldsID="3f2145edbd0a44f434925f83aff4b522" ns2:_="">
    <xsd:import namespace="2dabed69-2cd2-4795-9d32-589774afb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Komment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abed69-2cd2-4795-9d32-589774afb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Kommentar" ma:index="12" nillable="true" ma:displayName="Kommentar" ma:format="Dropdown" ma:internalName="Kommentar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64651-E30D-4632-9F60-0683872A6C5E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2dabed69-2cd2-4795-9d32-589774afbfaf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BE4CE5E-B4A9-4B5F-80F2-42DD1F685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abed69-2cd2-4795-9d32-589774afb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07B675-79CD-4A17-98DC-6F2B944996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2111_Praesentationsvorlage_16-9_own_v2-1</Template>
  <TotalTime>0</TotalTime>
  <Words>1831</Words>
  <Application>Microsoft Office PowerPoint</Application>
  <PresentationFormat>On-screen Show (16:9)</PresentationFormat>
  <Paragraphs>419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Symbol</vt:lpstr>
      <vt:lpstr>Wingdings</vt:lpstr>
      <vt:lpstr>Title Ohne Lehrstuhl</vt:lpstr>
      <vt:lpstr>Kapiteltrenner bunt</vt:lpstr>
      <vt:lpstr>Titel</vt:lpstr>
      <vt:lpstr>UCC_Inhalt</vt:lpstr>
      <vt:lpstr>TUM_Inhalt</vt:lpstr>
      <vt:lpstr>Kapiteltrenner blau</vt:lpstr>
      <vt:lpstr>Kapiteltrenner schwarz</vt:lpstr>
      <vt:lpstr>Expectations and Requirements</vt:lpstr>
      <vt:lpstr>Agenda</vt:lpstr>
      <vt:lpstr>Group Phase</vt:lpstr>
      <vt:lpstr>Working together</vt:lpstr>
      <vt:lpstr>Meeting Etiquette</vt:lpstr>
      <vt:lpstr>Project Management</vt:lpstr>
      <vt:lpstr>Presentations</vt:lpstr>
      <vt:lpstr>Motivation</vt:lpstr>
      <vt:lpstr>Motivation</vt:lpstr>
      <vt:lpstr>Motivation</vt:lpstr>
      <vt:lpstr>Motivation</vt:lpstr>
      <vt:lpstr>Motivation</vt:lpstr>
      <vt:lpstr>Motivation</vt:lpstr>
      <vt:lpstr>Requirements</vt:lpstr>
      <vt:lpstr>Expectations</vt:lpstr>
      <vt:lpstr>Expectations</vt:lpstr>
      <vt:lpstr>Negative Examples</vt:lpstr>
      <vt:lpstr>Negative Examples</vt:lpstr>
      <vt:lpstr>Negative Examples</vt:lpstr>
      <vt:lpstr>Project Documentation</vt:lpstr>
      <vt:lpstr>Guidelines</vt:lpstr>
      <vt:lpstr>Code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Next-Generation Data Center Curriculum:  Teaching AI Hosting Skills on IBM Power</dc:title>
  <dc:creator>Philipp Landler</dc:creator>
  <cp:lastModifiedBy>Leon Kist</cp:lastModifiedBy>
  <cp:revision>178</cp:revision>
  <cp:lastPrinted>2015-07-30T14:04:45Z</cp:lastPrinted>
  <dcterms:created xsi:type="dcterms:W3CDTF">2024-10-09T16:17:20Z</dcterms:created>
  <dcterms:modified xsi:type="dcterms:W3CDTF">2026-04-23T14:38:49Z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0x010100CECA252503CEBA4F96E24E33BFD98D17</vt:lpwstr>
  </property>
</Properties>
</file>