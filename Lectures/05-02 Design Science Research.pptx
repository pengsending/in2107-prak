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4"/>
    <p:sldMasterId id="2147483668" r:id="rId5"/>
    <p:sldMasterId id="2147483674" r:id="rId6"/>
    <p:sldMasterId id="2147483648" r:id="rId7"/>
    <p:sldMasterId id="2147483713" r:id="rId8"/>
    <p:sldMasterId id="2147483684" r:id="rId9"/>
    <p:sldMasterId id="2147483725" r:id="rId10"/>
  </p:sldMasterIdLst>
  <p:notesMasterIdLst>
    <p:notesMasterId r:id="rId28"/>
  </p:notesMasterIdLst>
  <p:handoutMasterIdLst>
    <p:handoutMasterId r:id="rId29"/>
  </p:handoutMasterIdLst>
  <p:sldIdLst>
    <p:sldId id="356" r:id="rId11"/>
    <p:sldId id="361" r:id="rId12"/>
    <p:sldId id="357" r:id="rId13"/>
    <p:sldId id="398" r:id="rId14"/>
    <p:sldId id="387" r:id="rId15"/>
    <p:sldId id="390" r:id="rId16"/>
    <p:sldId id="391" r:id="rId17"/>
    <p:sldId id="388" r:id="rId18"/>
    <p:sldId id="392" r:id="rId19"/>
    <p:sldId id="393" r:id="rId20"/>
    <p:sldId id="394" r:id="rId21"/>
    <p:sldId id="395" r:id="rId22"/>
    <p:sldId id="389" r:id="rId23"/>
    <p:sldId id="396" r:id="rId24"/>
    <p:sldId id="397" r:id="rId25"/>
    <p:sldId id="399" r:id="rId26"/>
    <p:sldId id="400" r:id="rId27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93"/>
    <a:srgbClr val="999999"/>
    <a:srgbClr val="98C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88658" autoAdjust="0"/>
  </p:normalViewPr>
  <p:slideViewPr>
    <p:cSldViewPr>
      <p:cViewPr varScale="1">
        <p:scale>
          <a:sx n="83" d="100"/>
          <a:sy n="83" d="100"/>
        </p:scale>
        <p:origin x="716" y="48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-55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23/04/2026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23/04/2026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41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EDBE1-731F-BD6C-0CA6-B06853AB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5E1975-0717-86B8-A96C-F20D4B951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EFC744-4389-845F-5193-CEAE087D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AB8053-5785-CD91-DCBB-B89A043CF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FC6D0-44D5-4EB7-828F-6F464F83D79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567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7AF4-160D-D069-55AF-C6F35D2D1CF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97489" name="Folienbildplatzhalter 1">
            <a:extLst>
              <a:ext uri="{FF2B5EF4-FFF2-40B4-BE49-F238E27FC236}">
                <a16:creationId xmlns:a16="http://schemas.microsoft.com/office/drawing/2014/main" id="{D65EF0FF-21A8-7E62-ABB5-185EEF7F7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0382776" name="Notizenplatzhalter 2">
            <a:extLst>
              <a:ext uri="{FF2B5EF4-FFF2-40B4-BE49-F238E27FC236}">
                <a16:creationId xmlns:a16="http://schemas.microsoft.com/office/drawing/2014/main" id="{2CB45626-7955-5AC7-ABE5-44856F827D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de-DE" dirty="0"/>
          </a:p>
        </p:txBody>
      </p:sp>
      <p:sp>
        <p:nvSpPr>
          <p:cNvPr id="1137412971" name="Foliennummernplatzhalter 3">
            <a:extLst>
              <a:ext uri="{FF2B5EF4-FFF2-40B4-BE49-F238E27FC236}">
                <a16:creationId xmlns:a16="http://schemas.microsoft.com/office/drawing/2014/main" id="{4F1A4C4C-3E4F-46A3-34B7-D06DDCD99517}"/>
              </a:ext>
            </a:extLst>
          </p:cNvPr>
          <p:cNvSpPr txBox="1">
            <a:spLocks noGrp="1"/>
          </p:cNvSpPr>
          <p:nvPr/>
        </p:nvSpPr>
        <p:spPr bwMode="auto">
          <a:xfrm>
            <a:off x="4021294" y="9721107"/>
            <a:ext cx="3076363" cy="5117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>
              <a:defRPr/>
            </a:pPr>
            <a:fld id="{D9B23263-3D9C-4E91-AD33-588525B950A1}" type="slidenum">
              <a:rPr lang="de-DE" sz="1300">
                <a:latin typeface="+mn-lt"/>
              </a:rPr>
              <a:t>4</a:t>
            </a:fld>
            <a:endParaRPr lang="de-DE" sz="1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950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97489" name="Folienbildplatzhalter 1"/>
          <p:cNvSpPr>
            <a:spLocks noGrp="1" noRot="1" noChangeAspec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0382776" name="Notizenplatzhalt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de-DE" dirty="0"/>
          </a:p>
        </p:txBody>
      </p:sp>
      <p:sp>
        <p:nvSpPr>
          <p:cNvPr id="1137412971" name="Foliennummernplatzhalter 3"/>
          <p:cNvSpPr txBox="1">
            <a:spLocks noGrp="1"/>
          </p:cNvSpPr>
          <p:nvPr/>
        </p:nvSpPr>
        <p:spPr bwMode="auto">
          <a:xfrm>
            <a:off x="4021294" y="9721107"/>
            <a:ext cx="3076363" cy="5117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>
              <a:defRPr/>
            </a:pPr>
            <a:fld id="{D9B23263-3D9C-4E91-AD33-588525B950A1}" type="slidenum">
              <a:rPr lang="de-DE" sz="1300">
                <a:latin typeface="+mn-lt"/>
              </a:rPr>
              <a:t>5</a:t>
            </a:fld>
            <a:endParaRPr lang="de-DE" sz="1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7979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116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2630-6277-FA7E-FDA9-CD81DA64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1345BF9-847B-849D-1D19-A7D90F8D3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5BAF315-A471-0EA1-1504-711D9FF26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908D76-2393-9C57-33BD-6B9F2A807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345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87D5-DFD4-766C-65FC-D4C150C1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5AB742-154A-98B2-6645-E1EC2D5E2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71C996-FC6A-94B9-F08A-7582CA4C8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A0662B-1CEC-8C3D-C017-BAF7C3137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107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3184-5D56-4FDE-BF45-72C24AF8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EA8F64-8C10-5C6A-8EF9-12FEC853B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808908E-0C6A-E320-D763-B6B7643B5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8C67B4-9F8B-B1C8-1F82-3135085E0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60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54C80-1F52-D4F1-6EB7-BA2B5382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52A5FC6-52A5-5B63-0F2F-B768A54B0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EBADC2A-9FFA-54A1-BC30-4CA8AF1E0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B5387F-D47E-55DC-950A-95885E47B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795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737F-52BF-5BF8-8FDD-BC944F85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DC25B5-CB2A-41DC-3E8D-FC2C253CE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D5D7422-F290-FB9F-EA95-FD5C06B82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20BD6A-F472-131B-E16B-A3BE2B063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031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FEEEC-2AE9-B3BA-A18C-F0E2DBA6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4885E79-AEF9-B715-2164-D4B0DEC5A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C2B9735-0910-9F10-9891-9896D6817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01AC3B-74D0-576C-EC3B-92B26BB99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438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CAC8F-8D8D-AAEA-5795-338C3F08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AAAFA47-EEAB-70AA-E837-6393351B4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2BF54F-7589-EA85-E071-E62ABE172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6DB-5960-69D7-53BE-136EC2763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034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F7C4E-53DA-067D-2CCA-C4D47643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86C935-764B-9509-2635-40A06AD92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521EA4A-0745-A939-C8B5-B8153771F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1F47A1-84AE-8965-1EA4-A32162C27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6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47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Title_WithoutCh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C9F217A-A765-9EC9-BA96-53895970F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7542C-2FBE-2192-7420-B3E117E596B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2D42941-1F94-08A8-4A98-80B5A1A04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3BD8702-EF40-B04A-5869-5AFB6636D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4BE60C9-BCDC-32E0-9FF8-3A890C62E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DC695B-F69F-9F4D-161D-ADC3BD81BA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  <p:pic>
        <p:nvPicPr>
          <p:cNvPr id="10" name="Grafik 9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Title_WithoutCh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C9F217A-A765-9EC9-BA96-53895970F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7542C-2FBE-2192-7420-B3E117E596B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2D42941-1F94-08A8-4A98-80B5A1A04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3BD8702-EF40-B04A-5869-5AFB6636DD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4BE60C9-BCDC-32E0-9FF8-3A890C62E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EDC695B-F69F-9F4D-161D-ADC3BD81BA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07275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144F4FB-4503-44B0-05FD-4BBA1057C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tieltrenner_bu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04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2B7D32A9-A29D-7CF1-8393-232C7572BF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191962A-8BA6-31C5-669B-9757726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12F94EB6-6341-C4C0-3DF2-B4580892D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DA8F8ED-9637-EE15-4E3E-E34D97DACC3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5E1C5C1-A499-7CAD-1380-AB56372B4ED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CA11B450-2634-6094-53B2-9124400231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9" y="2571750"/>
            <a:ext cx="42529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400" b="1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Autoren</a:t>
            </a:r>
          </a:p>
          <a:p>
            <a:pPr lvl="0"/>
            <a:r>
              <a:rPr lang="de-DE" noProof="0" dirty="0"/>
              <a:t>2. Zeile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2B7D32A9-A29D-7CF1-8393-232C7572BF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191962A-8BA6-31C5-669B-9757726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1257010"/>
            <a:ext cx="78488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8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12F94EB6-6341-C4C0-3DF2-B4580892D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1799250"/>
            <a:ext cx="7848873" cy="268444"/>
          </a:xfrm>
          <a:prstGeom prst="rect">
            <a:avLst/>
          </a:prstGeom>
        </p:spPr>
        <p:txBody>
          <a:bodyPr lIns="0" anchor="ctr"/>
          <a:lstStyle>
            <a:lvl1pPr>
              <a:defRPr lang="de-DE" sz="1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 dirty="0"/>
              <a:t>Abschnittsüberschrift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DA8F8ED-9637-EE15-4E3E-E34D97DACC3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17501" y="4409235"/>
            <a:ext cx="4254500" cy="280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Datum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5E1C5C1-A499-7CAD-1380-AB56372B4ED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11162" y="3167481"/>
            <a:ext cx="4252912" cy="107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de-DE" sz="1200" b="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Chair</a:t>
            </a:r>
          </a:p>
          <a:p>
            <a:pPr lvl="0"/>
            <a:r>
              <a:rPr lang="de-DE" noProof="0" dirty="0"/>
              <a:t>School</a:t>
            </a:r>
          </a:p>
          <a:p>
            <a:pPr lvl="0"/>
            <a:r>
              <a:rPr lang="de-DE" noProof="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45323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UCC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Next Generation Data Center Operations – 01 Introduction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CC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97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43174" name="Line 20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1281991149" name="Text Box 18"/>
          <p:cNvSpPr txBox="1">
            <a:spLocks noChangeArrowheads="1"/>
          </p:cNvSpPr>
          <p:nvPr/>
        </p:nvSpPr>
        <p:spPr bwMode="auto">
          <a:xfrm>
            <a:off x="6229350" y="359569"/>
            <a:ext cx="1439818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675">
                <a:solidFill>
                  <a:schemeClr val="bg2"/>
                </a:solidFill>
                <a:latin typeface="Arial"/>
              </a:rPr>
              <a:t>Technische Universität München</a:t>
            </a:r>
            <a:endParaRPr/>
          </a:p>
        </p:txBody>
      </p:sp>
      <p:sp>
        <p:nvSpPr>
          <p:cNvPr id="2084715533" name="Line 22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941120630" name="Line 23"/>
          <p:cNvSpPr>
            <a:spLocks noChangeShapeType="1"/>
          </p:cNvSpPr>
          <p:nvPr/>
        </p:nvSpPr>
        <p:spPr bwMode="auto">
          <a:xfrm>
            <a:off x="0" y="47434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pic>
        <p:nvPicPr>
          <p:cNvPr id="1908350810" name="Picture 2" descr="C:\Users\Flopc\Desktop\ppt\TUMLogo_oZ_Vollfl_blau_RGB.emf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035926" y="244079"/>
            <a:ext cx="606425" cy="24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1637902" name="Rectangle 19"/>
          <p:cNvSpPr>
            <a:spLocks noChangeArrowheads="1"/>
          </p:cNvSpPr>
          <p:nvPr userDrawn="1"/>
        </p:nvSpPr>
        <p:spPr bwMode="auto">
          <a:xfrm>
            <a:off x="2719018" y="4839891"/>
            <a:ext cx="3655167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de-DE" sz="750" dirty="0">
                <a:solidFill>
                  <a:srgbClr val="0065BD"/>
                </a:solidFill>
              </a:rPr>
              <a:t>Wittges Lab – </a:t>
            </a:r>
            <a:r>
              <a:rPr lang="de-DE" sz="750" dirty="0" err="1">
                <a:solidFill>
                  <a:srgbClr val="0065BD"/>
                </a:solidFill>
              </a:rPr>
              <a:t>Chair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de-DE" sz="750" dirty="0" err="1">
                <a:solidFill>
                  <a:srgbClr val="0065BD"/>
                </a:solidFill>
              </a:rPr>
              <a:t>for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en-US" sz="750" dirty="0">
                <a:solidFill>
                  <a:srgbClr val="0065BD"/>
                </a:solidFill>
              </a:rPr>
              <a:t>Information Systems and Business Process Management </a:t>
            </a:r>
            <a:endParaRPr lang="de-DE" sz="750" dirty="0">
              <a:solidFill>
                <a:srgbClr val="0065BD"/>
              </a:solidFill>
            </a:endParaRPr>
          </a:p>
        </p:txBody>
      </p:sp>
      <p:sp>
        <p:nvSpPr>
          <p:cNvPr id="1092164733" name="Text Box 12"/>
          <p:cNvSpPr txBox="1">
            <a:spLocks noChangeArrowheads="1"/>
          </p:cNvSpPr>
          <p:nvPr userDrawn="1"/>
        </p:nvSpPr>
        <p:spPr bwMode="auto">
          <a:xfrm>
            <a:off x="8336687" y="4837510"/>
            <a:ext cx="23083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l">
              <a:defRPr/>
            </a:pPr>
            <a:fld id="{1097A908-C15C-48E9-863D-72BCED286D16}" type="slidenum">
              <a:rPr lang="de-DE" sz="900">
                <a:solidFill>
                  <a:schemeClr val="tx2"/>
                </a:solidFill>
              </a:rPr>
              <a:t>‹Nr.›</a:t>
            </a:fld>
            <a:endParaRPr lang="de-DE" sz="900">
              <a:solidFill>
                <a:schemeClr val="tx2"/>
              </a:solidFill>
            </a:endParaRPr>
          </a:p>
        </p:txBody>
      </p:sp>
      <p:sp>
        <p:nvSpPr>
          <p:cNvPr id="8151254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1624090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80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ED8B39B-305B-CE78-8E5B-1C5653E20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F7AFD80F-AEF0-8E0F-3E33-09A90FA5D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3846076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636C3-A613-01D5-E226-D7AB0FC6C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BDE2CF6-B9C6-B24C-EADD-75559B630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1162" y="1131590"/>
            <a:ext cx="851584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None/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  <a:lvl5pPr marL="828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5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pic>
        <p:nvPicPr>
          <p:cNvPr id="8" name="Grafik 7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35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8C27AA-387F-42B0-6A14-8C045FCA6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5041CD8F-0CDE-A1C6-AA49-99AA4CEDC3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530575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70C4BC-EC99-1119-C49C-86F7A7F48A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DB669D96-8AC6-A243-DECB-5962BBD76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2D0150-C7AE-0E32-5F4F-A9D62FDCDC4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43999" y="1131590"/>
            <a:ext cx="41809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F8BEEAF-9BEE-05EC-E27B-829B123A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56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E2FBF13-4B7A-B6B7-DD51-269911CF525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19091" y="1779548"/>
            <a:ext cx="4180910" cy="295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7" y="1131590"/>
            <a:ext cx="849694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9662"/>
            <a:ext cx="4180392" cy="291609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54F1F2-A259-7C66-EA03-12CD3DC93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65FE852-135D-BDFD-45C1-13B9EBD2E4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850127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12943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605908-724F-827C-D67B-B44F9053C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C4E782D2-5E1F-37AA-A11D-DEB9198C62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C8CC167-2637-6901-0A97-E9D552DCB81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19091" y="2143124"/>
            <a:ext cx="4180910" cy="258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 marL="288000" indent="-288000">
              <a:lnSpc>
                <a:spcPct val="114000"/>
              </a:lnSpc>
              <a:buClr>
                <a:schemeClr val="bg2"/>
              </a:buClr>
              <a:buFont typeface="Wingdings" panose="05000000000000000000" pitchFamily="2" charset="2"/>
              <a:buChar char="§"/>
              <a:defRPr lang="de-DE" sz="1400" noProof="0" dirty="0" smtClean="0"/>
            </a:lvl2pPr>
            <a:lvl3pPr marL="504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200" baseline="0"/>
            </a:lvl3pPr>
            <a:lvl4pPr marL="720000" indent="-288000">
              <a:buClr>
                <a:schemeClr val="bg2"/>
              </a:buClr>
              <a:buFont typeface="Wingdings" panose="05000000000000000000" pitchFamily="2" charset="2"/>
              <a:buChar char="§"/>
              <a:defRPr sz="1100"/>
            </a:lvl4pPr>
          </a:lstStyle>
          <a:p>
            <a:pPr lvl="0"/>
            <a:r>
              <a:rPr lang="en-US" noProof="0" dirty="0"/>
              <a:t>Change Content through click</a:t>
            </a:r>
          </a:p>
          <a:p>
            <a:pPr lvl="1"/>
            <a:r>
              <a:rPr lang="en-US" noProof="0" dirty="0"/>
              <a:t>Content Layer 1</a:t>
            </a:r>
          </a:p>
          <a:p>
            <a:pPr lvl="2"/>
            <a:r>
              <a:rPr lang="en-US" noProof="0" dirty="0"/>
              <a:t>Content Layer 2</a:t>
            </a:r>
          </a:p>
          <a:p>
            <a:pPr lvl="3"/>
            <a:r>
              <a:rPr lang="en-US" noProof="0" dirty="0"/>
              <a:t>Content Layer 3</a:t>
            </a:r>
          </a:p>
        </p:txBody>
      </p:sp>
    </p:spTree>
    <p:extLst>
      <p:ext uri="{BB962C8B-B14F-4D97-AF65-F5344CB8AC3E}">
        <p14:creationId xmlns:p14="http://schemas.microsoft.com/office/powerpoint/2010/main" val="3970426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UCC Slide Master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 dirty="0"/>
              <a:t>Change content through click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1AF544-A1E7-A6A4-D278-873E3795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50777B57-C6B8-A4E8-3152-5386A8C7D6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1120954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285D4F-6CD0-D89E-F854-C41CAEB49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527" y="555526"/>
            <a:ext cx="74168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0000"/>
              </a:lnSpc>
              <a:defRPr lang="de-DE" sz="2000" b="1" noProof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Change Title Through Click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810112D1-74BD-9B2B-B81B-881364F071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527" y="267494"/>
            <a:ext cx="7416825" cy="216024"/>
          </a:xfrm>
          <a:prstGeom prst="rect">
            <a:avLst/>
          </a:prstGeom>
        </p:spPr>
        <p:txBody>
          <a:bodyPr lIns="0" anchor="ctr"/>
          <a:lstStyle>
            <a:lvl1pPr>
              <a:defRPr lang="de-DE" sz="12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934136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039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iteltrenner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53DCD933-4AE9-190B-C8D7-A18BD86DF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iteltrenner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6384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43174" name="Line 20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1281991149" name="Text Box 18"/>
          <p:cNvSpPr txBox="1">
            <a:spLocks noChangeArrowheads="1"/>
          </p:cNvSpPr>
          <p:nvPr/>
        </p:nvSpPr>
        <p:spPr bwMode="auto">
          <a:xfrm>
            <a:off x="6229350" y="359569"/>
            <a:ext cx="1439818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675">
                <a:solidFill>
                  <a:schemeClr val="bg2"/>
                </a:solidFill>
                <a:latin typeface="Arial"/>
              </a:rPr>
              <a:t>Technische Universität München</a:t>
            </a:r>
            <a:endParaRPr/>
          </a:p>
        </p:txBody>
      </p:sp>
      <p:sp>
        <p:nvSpPr>
          <p:cNvPr id="2084715533" name="Line 22"/>
          <p:cNvSpPr>
            <a:spLocks noChangeShapeType="1"/>
          </p:cNvSpPr>
          <p:nvPr/>
        </p:nvSpPr>
        <p:spPr bwMode="auto">
          <a:xfrm>
            <a:off x="0" y="5143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sp>
        <p:nvSpPr>
          <p:cNvPr id="941120630" name="Line 23"/>
          <p:cNvSpPr>
            <a:spLocks noChangeShapeType="1"/>
          </p:cNvSpPr>
          <p:nvPr/>
        </p:nvSpPr>
        <p:spPr bwMode="auto">
          <a:xfrm>
            <a:off x="0" y="4743450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/>
            </a:endParaRPr>
          </a:p>
        </p:txBody>
      </p:sp>
      <p:pic>
        <p:nvPicPr>
          <p:cNvPr id="1908350810" name="Picture 2" descr="C:\Users\Flopc\Desktop\ppt\TUMLogo_oZ_Vollfl_blau_RGB.emf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035926" y="244079"/>
            <a:ext cx="606425" cy="24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1637902" name="Rectangle 19"/>
          <p:cNvSpPr>
            <a:spLocks noChangeArrowheads="1"/>
          </p:cNvSpPr>
          <p:nvPr userDrawn="1"/>
        </p:nvSpPr>
        <p:spPr bwMode="auto">
          <a:xfrm>
            <a:off x="2719018" y="4839891"/>
            <a:ext cx="3655167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de-DE" sz="750" dirty="0">
                <a:solidFill>
                  <a:srgbClr val="0065BD"/>
                </a:solidFill>
              </a:rPr>
              <a:t>Wittges Lab – </a:t>
            </a:r>
            <a:r>
              <a:rPr lang="de-DE" sz="750" dirty="0" err="1">
                <a:solidFill>
                  <a:srgbClr val="0065BD"/>
                </a:solidFill>
              </a:rPr>
              <a:t>Chair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de-DE" sz="750" dirty="0" err="1">
                <a:solidFill>
                  <a:srgbClr val="0065BD"/>
                </a:solidFill>
              </a:rPr>
              <a:t>for</a:t>
            </a:r>
            <a:r>
              <a:rPr lang="de-DE" sz="750" dirty="0">
                <a:solidFill>
                  <a:srgbClr val="0065BD"/>
                </a:solidFill>
              </a:rPr>
              <a:t> </a:t>
            </a:r>
            <a:r>
              <a:rPr lang="en-US" sz="750" dirty="0">
                <a:solidFill>
                  <a:srgbClr val="0065BD"/>
                </a:solidFill>
              </a:rPr>
              <a:t>Information Systems and Business Process Management </a:t>
            </a:r>
            <a:endParaRPr lang="de-DE" sz="750" dirty="0">
              <a:solidFill>
                <a:srgbClr val="0065BD"/>
              </a:solidFill>
            </a:endParaRPr>
          </a:p>
        </p:txBody>
      </p:sp>
      <p:sp>
        <p:nvSpPr>
          <p:cNvPr id="1092164733" name="Text Box 12"/>
          <p:cNvSpPr txBox="1">
            <a:spLocks noChangeArrowheads="1"/>
          </p:cNvSpPr>
          <p:nvPr userDrawn="1"/>
        </p:nvSpPr>
        <p:spPr bwMode="auto">
          <a:xfrm>
            <a:off x="8336687" y="4837510"/>
            <a:ext cx="23083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l">
              <a:defRPr/>
            </a:pPr>
            <a:fld id="{1097A908-C15C-48E9-863D-72BCED286D16}" type="slidenum">
              <a:rPr lang="de-DE" sz="900">
                <a:solidFill>
                  <a:schemeClr val="tx2"/>
                </a:solidFill>
              </a:rPr>
              <a:t>‹Nr.›</a:t>
            </a:fld>
            <a:endParaRPr lang="de-DE" sz="900">
              <a:solidFill>
                <a:schemeClr val="tx2"/>
              </a:solidFill>
            </a:endParaRPr>
          </a:p>
        </p:txBody>
      </p:sp>
      <p:sp>
        <p:nvSpPr>
          <p:cNvPr id="8151254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1624090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159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C_Kapiteltrenner_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3" name="Grafik 2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523F2F40-525C-5338-B1EA-CDE07B6107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061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M_Kapiteltrenner_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44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w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2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5.emf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SAP University Competence Center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Chair for Information Systems and Business Process Management</a:t>
            </a: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TUM</a:t>
            </a:r>
            <a:r>
              <a:rPr lang="en-US" sz="800" baseline="0" noProof="0" dirty="0">
                <a:solidFill>
                  <a:schemeClr val="tx2"/>
                </a:solidFill>
                <a:latin typeface="+mn-lt"/>
              </a:rPr>
              <a:t> School of Computation, Information, and Technology</a:t>
            </a:r>
            <a:endParaRPr lang="en-US" sz="800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ts val="900"/>
              </a:lnSpc>
            </a:pPr>
            <a:r>
              <a:rPr lang="en-US" sz="800" noProof="0" dirty="0">
                <a:solidFill>
                  <a:schemeClr val="tx2"/>
                </a:solidFill>
                <a:latin typeface="+mn-lt"/>
              </a:rPr>
              <a:t>Technical University of Munich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Next Generation Data Center Operations – 01 Introduction</a:t>
            </a:r>
          </a:p>
        </p:txBody>
      </p:sp>
      <p:pic>
        <p:nvPicPr>
          <p:cNvPr id="2" name="Grafik 1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D2D0B7CD-DCDB-BDF4-B7DF-0C7100A1A06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12360" y="324000"/>
            <a:ext cx="242869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  <p:sldLayoutId id="2147483712" r:id="rId9"/>
    <p:sldLayoutId id="2147483728" r:id="rId10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83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729" r:id="rId3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UCC Slide 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1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scholar.google.com/citations?user=j9NDJ_wAAAAJ&amp;hl=e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965F22C-3F61-B5D6-EB0F-555FC01E211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9089" y="3219822"/>
            <a:ext cx="3244799" cy="430887"/>
          </a:xfrm>
        </p:spPr>
        <p:txBody>
          <a:bodyPr anchor="b"/>
          <a:lstStyle/>
          <a:p>
            <a:r>
              <a:rPr lang="de-DE" dirty="0"/>
              <a:t>Simon Fuchs, Maximilian Niedermeier, Noah Kim, Leon Kist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2A193D7-AF45-D747-B775-FE036BEA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7" y="1287788"/>
            <a:ext cx="7848873" cy="369332"/>
          </a:xfrm>
        </p:spPr>
        <p:txBody>
          <a:bodyPr/>
          <a:lstStyle/>
          <a:p>
            <a:r>
              <a:rPr lang="en-US" sz="2400" dirty="0"/>
              <a:t>Design Science Research</a:t>
            </a:r>
            <a:endParaRPr lang="de-DE" sz="24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7C0174-FCB7-52F4-2D4F-9FB9D0EA8F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527" y="2006630"/>
            <a:ext cx="4536505" cy="268444"/>
          </a:xfrm>
        </p:spPr>
        <p:txBody>
          <a:bodyPr/>
          <a:lstStyle/>
          <a:p>
            <a:r>
              <a:rPr lang="en-US" dirty="0">
                <a:latin typeface="Calibri"/>
              </a:rPr>
              <a:t>Advanced Practical Course – Next Generation Data Center Operations for SAP Enterprise Software </a:t>
            </a:r>
            <a:br>
              <a:rPr lang="en-US" b="0" dirty="0">
                <a:latin typeface="Calibri"/>
              </a:rPr>
            </a:br>
            <a:r>
              <a:rPr lang="en-US" b="0" dirty="0">
                <a:latin typeface="Calibri"/>
              </a:rPr>
              <a:t>(IN2128, IN2106, IN212810)</a:t>
            </a:r>
            <a:endParaRPr lang="en-US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9F6D190-96DE-B3BC-8E87-014D906A06F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4 May, 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785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11A2-FA1C-79C2-EB4C-926AAFFD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22EFE8B-F6C9-77A8-C440-FC6BF697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150090-3EDC-4B77-87BD-54A14E26E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Design Science Research</a:t>
            </a:r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2E59EE-DE06-5C33-2841-2AD2E09C6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62" y="1131590"/>
            <a:ext cx="8365294" cy="3600400"/>
          </a:xfrm>
        </p:spPr>
        <p:txBody>
          <a:bodyPr/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/>
              <a:t>What is Design Science Research?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Hevner’s Guidelines for Design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Design Science Project Cycle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73A7E815-5F89-8752-5F84-05691DC7A8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3527" y="4758943"/>
            <a:ext cx="6464280" cy="273844"/>
          </a:xfrm>
        </p:spPr>
        <p:txBody>
          <a:bodyPr/>
          <a:lstStyle/>
          <a:p>
            <a:pPr lvl="0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Next Generation Data Center Operations – </a:t>
            </a:r>
            <a:r>
              <a:rPr lang="en-US" dirty="0">
                <a:solidFill>
                  <a:prstClr val="black"/>
                </a:solidFill>
              </a:rPr>
              <a:t>05 Design Science Research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53DBE96-6E00-C69E-44D6-0F30A8B4EC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58CB1E-F828-4F11-99E0-327109AF9DA4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7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7F9B55-BDF7-4686-90B9-B0AFF17E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96583"/>
          </a:xfrm>
        </p:spPr>
        <p:txBody>
          <a:bodyPr/>
          <a:lstStyle/>
          <a:p>
            <a:pPr algn="just"/>
            <a:r>
              <a:rPr lang="en-US" dirty="0"/>
              <a:t>What is Design Science Research?</a:t>
            </a:r>
          </a:p>
        </p:txBody>
      </p:sp>
    </p:spTree>
    <p:extLst>
      <p:ext uri="{BB962C8B-B14F-4D97-AF65-F5344CB8AC3E}">
        <p14:creationId xmlns:p14="http://schemas.microsoft.com/office/powerpoint/2010/main" val="203315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B21B44F-2596-01B9-2120-97667B51546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60541" name="Rectangle 3">
            <a:extLst>
              <a:ext uri="{FF2B5EF4-FFF2-40B4-BE49-F238E27FC236}">
                <a16:creationId xmlns:a16="http://schemas.microsoft.com/office/drawing/2014/main" id="{66A4DAF4-C8E6-97F5-95A9-87673120F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235" y="789385"/>
            <a:ext cx="6172200" cy="410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buFont typeface="Arial"/>
              <a:buChar char="•"/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5280E4A-F3B5-9094-2ABF-AB97940B69A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Design Science Research (DSR) is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588963291" name="Titel 1">
            <a:extLst>
              <a:ext uri="{FF2B5EF4-FFF2-40B4-BE49-F238E27FC236}">
                <a16:creationId xmlns:a16="http://schemas.microsoft.com/office/drawing/2014/main" id="{BE6C5616-F69C-CC7A-0A3F-4F405B9D57BA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Calibri"/>
              </a:rPr>
              <a:t>Design Science Research</a:t>
            </a:r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4E7F50-6C43-8C28-CF1C-F6DCB82A35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Design Science Research?</a:t>
            </a:r>
          </a:p>
        </p:txBody>
      </p:sp>
      <p:sp>
        <p:nvSpPr>
          <p:cNvPr id="10" name="Fußzeilenplatzhalter 13">
            <a:extLst>
              <a:ext uri="{FF2B5EF4-FFF2-40B4-BE49-F238E27FC236}">
                <a16:creationId xmlns:a16="http://schemas.microsoft.com/office/drawing/2014/main" id="{480537DF-33AD-AC3F-36DA-E37F011E985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11162" y="4854985"/>
            <a:ext cx="6464280" cy="273844"/>
          </a:xfrm>
          <a:prstGeom prst="rect">
            <a:avLst/>
          </a:prstGeom>
        </p:spPr>
        <p:txBody>
          <a:bodyPr/>
          <a:lstStyle/>
          <a:p>
            <a:r>
              <a:rPr lang="en-US" sz="1100" noProof="0" dirty="0"/>
              <a:t>Next Generation Data Center Operations – 05 Design Science Research</a:t>
            </a:r>
          </a:p>
        </p:txBody>
      </p:sp>
      <p:sp>
        <p:nvSpPr>
          <p:cNvPr id="11" name="Foliennummernplatzhalter 1">
            <a:extLst>
              <a:ext uri="{FF2B5EF4-FFF2-40B4-BE49-F238E27FC236}">
                <a16:creationId xmlns:a16="http://schemas.microsoft.com/office/drawing/2014/main" id="{6DDAADA2-6D37-FE1E-76E4-C2A0859F11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774934" y="4854985"/>
            <a:ext cx="2052074" cy="273844"/>
          </a:xfrm>
          <a:prstGeom prst="rect">
            <a:avLst/>
          </a:prstGeom>
        </p:spPr>
        <p:txBody>
          <a:bodyPr/>
          <a:lstStyle/>
          <a:p>
            <a:pPr algn="r"/>
            <a:fld id="{CE58CB1E-F828-4F11-99E0-327109AF9DA4}" type="slidenum">
              <a:rPr lang="de-DE" sz="1100" smtClean="0"/>
              <a:pPr algn="r"/>
              <a:t>4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424607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60541" name="Rectangle 3"/>
          <p:cNvSpPr>
            <a:spLocks noChangeArrowheads="1"/>
          </p:cNvSpPr>
          <p:nvPr/>
        </p:nvSpPr>
        <p:spPr bwMode="auto">
          <a:xfrm>
            <a:off x="1494235" y="789385"/>
            <a:ext cx="6172200" cy="410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buFont typeface="Arial"/>
              <a:buChar char="•"/>
              <a:defRPr/>
            </a:pPr>
            <a:endParaRPr lang="en-US" sz="2100">
              <a:latin typeface="Calibri"/>
            </a:endParaRPr>
          </a:p>
          <a:p>
            <a:pPr marL="457200" indent="-457200">
              <a:spcBef>
                <a:spcPts val="0"/>
              </a:spcBef>
              <a:defRPr/>
            </a:pPr>
            <a:endParaRPr lang="en-US" sz="2100">
              <a:latin typeface="Calibri"/>
            </a:endParaRPr>
          </a:p>
        </p:txBody>
      </p:sp>
      <p:sp>
        <p:nvSpPr>
          <p:cNvPr id="2" name="Textplatzhalter 1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Anglo-American World</a:t>
            </a:r>
          </a:p>
          <a:p>
            <a:pPr lvl="1">
              <a:defRPr/>
            </a:pPr>
            <a:r>
              <a:rPr lang="en-US" dirty="0"/>
              <a:t>IS </a:t>
            </a:r>
            <a:r>
              <a:rPr lang="en-US" dirty="0" err="1"/>
              <a:t>is</a:t>
            </a:r>
            <a:r>
              <a:rPr lang="en-US" dirty="0"/>
              <a:t> formed by economics researches realizing that IT has drastic impact on economy and its own logic</a:t>
            </a:r>
          </a:p>
          <a:p>
            <a:pPr lvl="1">
              <a:defRPr/>
            </a:pPr>
            <a:r>
              <a:rPr lang="en-US" dirty="0"/>
              <a:t>Focuses on social theories and methodologies to research IT-related economic research questions</a:t>
            </a:r>
          </a:p>
          <a:p>
            <a:pPr lvl="1">
              <a:defRPr/>
            </a:pPr>
            <a:r>
              <a:rPr lang="en-US" dirty="0" err="1"/>
              <a:t>Desciptive</a:t>
            </a:r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marL="0" lvl="1" indent="0">
              <a:buNone/>
              <a:defRPr/>
            </a:pPr>
            <a:r>
              <a:rPr lang="en-US" i="1" dirty="0"/>
              <a:t>“There should be a tool to allow intuitive, visual and instinctive screen control”</a:t>
            </a:r>
          </a:p>
          <a:p>
            <a:pPr marL="0" lvl="1" indent="0">
              <a:buNone/>
              <a:defRPr/>
            </a:pPr>
            <a:endParaRPr lang="en-US" i="1" dirty="0"/>
          </a:p>
          <a:p>
            <a:pPr marL="0" lvl="1" indent="0">
              <a:buNone/>
              <a:defRPr/>
            </a:pPr>
            <a:r>
              <a:rPr lang="en-US" dirty="0"/>
              <a:t>Problem: Never constructs solutions, only analyzes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58896329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Calibri"/>
              </a:rPr>
              <a:t>Early 2000s – Information Systems is forming</a:t>
            </a:r>
            <a:endParaRPr lang="en-GB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Design Science Research?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German-speaking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„Wirtschaftsinformatik“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formed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Computer Science </a:t>
            </a:r>
            <a:r>
              <a:rPr lang="de-DE" dirty="0" err="1"/>
              <a:t>people</a:t>
            </a:r>
            <a:r>
              <a:rPr lang="de-DE" dirty="0"/>
              <a:t> </a:t>
            </a:r>
            <a:r>
              <a:rPr lang="de-DE" dirty="0" err="1"/>
              <a:t>realising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IT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drastic</a:t>
            </a:r>
            <a:r>
              <a:rPr lang="de-DE" dirty="0"/>
              <a:t> </a:t>
            </a:r>
            <a:r>
              <a:rPr lang="de-DE" dirty="0" err="1"/>
              <a:t>economic</a:t>
            </a:r>
            <a:r>
              <a:rPr lang="de-DE" dirty="0"/>
              <a:t> potential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infulences</a:t>
            </a:r>
            <a:r>
              <a:rPr lang="de-DE" dirty="0"/>
              <a:t> and </a:t>
            </a:r>
            <a:r>
              <a:rPr lang="de-DE" dirty="0" err="1"/>
              <a:t>shapes</a:t>
            </a:r>
            <a:r>
              <a:rPr lang="de-DE" dirty="0"/>
              <a:t> Computer Science </a:t>
            </a:r>
            <a:r>
              <a:rPr lang="de-DE" dirty="0" err="1"/>
              <a:t>developments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Prototype- and </a:t>
            </a:r>
            <a:r>
              <a:rPr lang="de-DE" dirty="0" err="1"/>
              <a:t>development</a:t>
            </a:r>
            <a:r>
              <a:rPr lang="de-DE" dirty="0"/>
              <a:t>-focus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Designing</a:t>
            </a:r>
            <a:r>
              <a:rPr lang="de-DE" dirty="0"/>
              <a:t> (</a:t>
            </a:r>
            <a:r>
              <a:rPr lang="de-DE" dirty="0" err="1"/>
              <a:t>pragmatic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i="1" dirty="0"/>
              <a:t>„I </a:t>
            </a:r>
            <a:r>
              <a:rPr lang="de-DE" i="1" dirty="0" err="1"/>
              <a:t>have</a:t>
            </a:r>
            <a:r>
              <a:rPr lang="de-DE" i="1" dirty="0"/>
              <a:t> </a:t>
            </a:r>
            <a:r>
              <a:rPr lang="de-DE" i="1" dirty="0" err="1"/>
              <a:t>constructed</a:t>
            </a:r>
            <a:r>
              <a:rPr lang="de-DE" i="1" dirty="0"/>
              <a:t> </a:t>
            </a:r>
            <a:r>
              <a:rPr lang="de-DE" i="1" dirty="0" err="1"/>
              <a:t>someting</a:t>
            </a:r>
            <a:r>
              <a:rPr lang="de-DE" i="1" dirty="0"/>
              <a:t> </a:t>
            </a:r>
            <a:r>
              <a:rPr lang="de-DE" i="1" dirty="0" err="1"/>
              <a:t>that</a:t>
            </a:r>
            <a:r>
              <a:rPr lang="de-DE" i="1" dirty="0"/>
              <a:t> I </a:t>
            </a:r>
            <a:r>
              <a:rPr lang="de-DE" i="1" dirty="0" err="1"/>
              <a:t>call</a:t>
            </a:r>
            <a:r>
              <a:rPr lang="de-DE" i="1" dirty="0"/>
              <a:t> </a:t>
            </a:r>
            <a:r>
              <a:rPr lang="de-DE" i="1" dirty="0" err="1"/>
              <a:t>mouse</a:t>
            </a:r>
            <a:r>
              <a:rPr lang="de-DE" i="1" dirty="0"/>
              <a:t>. </a:t>
            </a:r>
            <a:r>
              <a:rPr lang="de-DE" i="1" dirty="0" err="1"/>
              <a:t>Isn‘t</a:t>
            </a:r>
            <a:r>
              <a:rPr lang="de-DE" i="1" dirty="0"/>
              <a:t> </a:t>
            </a:r>
            <a:r>
              <a:rPr lang="de-DE" i="1" dirty="0" err="1"/>
              <a:t>it</a:t>
            </a:r>
            <a:r>
              <a:rPr lang="de-DE" i="1" dirty="0"/>
              <a:t> </a:t>
            </a:r>
            <a:r>
              <a:rPr lang="de-DE" i="1" dirty="0" err="1"/>
              <a:t>great</a:t>
            </a:r>
            <a:r>
              <a:rPr lang="de-DE" i="1" dirty="0"/>
              <a:t>?“</a:t>
            </a:r>
          </a:p>
          <a:p>
            <a:endParaRPr lang="de-DE" i="1" dirty="0"/>
          </a:p>
          <a:p>
            <a:r>
              <a:rPr lang="de-DE" dirty="0"/>
              <a:t>Problem: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constructs</a:t>
            </a:r>
            <a:r>
              <a:rPr lang="de-DE" dirty="0"/>
              <a:t>, </a:t>
            </a:r>
            <a:r>
              <a:rPr lang="de-DE" dirty="0" err="1"/>
              <a:t>never</a:t>
            </a:r>
            <a:r>
              <a:rPr lang="de-DE" dirty="0"/>
              <a:t> </a:t>
            </a:r>
            <a:r>
              <a:rPr lang="de-DE" dirty="0" err="1"/>
              <a:t>analyzes</a:t>
            </a:r>
            <a:endParaRPr lang="de-DE" dirty="0"/>
          </a:p>
        </p:txBody>
      </p:sp>
      <p:sp>
        <p:nvSpPr>
          <p:cNvPr id="10" name="Fußzeilenplatzhalter 13">
            <a:extLst>
              <a:ext uri="{FF2B5EF4-FFF2-40B4-BE49-F238E27FC236}">
                <a16:creationId xmlns:a16="http://schemas.microsoft.com/office/drawing/2014/main" id="{73A7E815-5F89-8752-5F84-05691DC7A81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11162" y="4854985"/>
            <a:ext cx="6464280" cy="273844"/>
          </a:xfrm>
          <a:prstGeom prst="rect">
            <a:avLst/>
          </a:prstGeom>
        </p:spPr>
        <p:txBody>
          <a:bodyPr/>
          <a:lstStyle/>
          <a:p>
            <a:r>
              <a:rPr lang="en-US" sz="1100" noProof="0" dirty="0"/>
              <a:t>Next Generation Data Center Operations – 05 Design Science Research</a:t>
            </a:r>
          </a:p>
        </p:txBody>
      </p:sp>
      <p:sp>
        <p:nvSpPr>
          <p:cNvPr id="11" name="Foliennummernplatzhalter 1">
            <a:extLst>
              <a:ext uri="{FF2B5EF4-FFF2-40B4-BE49-F238E27FC236}">
                <a16:creationId xmlns:a16="http://schemas.microsoft.com/office/drawing/2014/main" id="{753DBE96-6E00-C69E-44D6-0F30A8B4EC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774934" y="4854985"/>
            <a:ext cx="2052074" cy="273844"/>
          </a:xfrm>
          <a:prstGeom prst="rect">
            <a:avLst/>
          </a:prstGeom>
        </p:spPr>
        <p:txBody>
          <a:bodyPr/>
          <a:lstStyle/>
          <a:p>
            <a:pPr algn="r"/>
            <a:fld id="{CE58CB1E-F828-4F11-99E0-327109AF9DA4}" type="slidenum">
              <a:rPr lang="de-DE" sz="1100" smtClean="0"/>
              <a:pPr algn="r"/>
              <a:t>5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02963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8272F5C-84DD-4C2C-B5E0-0199A7D710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AF0B50-1825-ECFA-7667-471277583C8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Next Generation Data Center Operations – 05 Design Science Research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57452ED-603A-F68D-373F-F3C56163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Alan </a:t>
            </a:r>
            <a:r>
              <a:rPr lang="de-DE" dirty="0" err="1"/>
              <a:t>Hevner‘s</a:t>
            </a:r>
            <a:r>
              <a:rPr lang="de-DE" dirty="0"/>
              <a:t> Synthesis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D0A884B-40C9-9585-DC7B-DFB8E8D1C0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Design Science Research?</a:t>
            </a:r>
          </a:p>
        </p:txBody>
      </p:sp>
      <p:pic>
        <p:nvPicPr>
          <p:cNvPr id="1030" name="Picture 6" descr="Alan Hevner">
            <a:extLst>
              <a:ext uri="{FF2B5EF4-FFF2-40B4-BE49-F238E27FC236}">
                <a16:creationId xmlns:a16="http://schemas.microsoft.com/office/drawing/2014/main" id="{0BDB4BAE-AB75-7810-C150-AC07A5C7A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162789"/>
            <a:ext cx="2283874" cy="22125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2302A80-8700-48EA-BF2D-3FE45A23E70C}"/>
              </a:ext>
            </a:extLst>
          </p:cNvPr>
          <p:cNvSpPr txBox="1"/>
          <p:nvPr/>
        </p:nvSpPr>
        <p:spPr>
          <a:xfrm>
            <a:off x="5940152" y="3879349"/>
            <a:ext cx="245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hlinkClick r:id="rId4"/>
              </a:rPr>
              <a:t>https://scholar.google.com/citations?user=j9NDJ_wAAAAJ&amp;hl=en</a:t>
            </a:r>
            <a:r>
              <a:rPr lang="de-DE" sz="1200" dirty="0"/>
              <a:t>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149D9B2-A69B-E53D-76D2-D3F1C685866E}"/>
              </a:ext>
            </a:extLst>
          </p:cNvPr>
          <p:cNvSpPr txBox="1"/>
          <p:nvPr/>
        </p:nvSpPr>
        <p:spPr>
          <a:xfrm>
            <a:off x="1115616" y="3549500"/>
            <a:ext cx="4472994" cy="5179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000" dirty="0">
                <a:latin typeface="+mn-lt"/>
              </a:rPr>
              <a:t>In</a:t>
            </a:r>
            <a:r>
              <a:rPr lang="da-DK" sz="1000" dirty="0">
                <a:latin typeface="+mn-lt"/>
              </a:rPr>
              <a:t> Hevner, A.R., et al., </a:t>
            </a:r>
            <a:r>
              <a:rPr lang="en-US" sz="1000" i="1" dirty="0">
                <a:latin typeface="+mn-lt"/>
              </a:rPr>
              <a:t>Design science in information systems research.</a:t>
            </a:r>
            <a:r>
              <a:rPr lang="en-US" sz="1000" dirty="0">
                <a:latin typeface="+mn-lt"/>
              </a:rPr>
              <a:t> MIS Q., 2004. 28(1): p. 75–105.</a:t>
            </a:r>
          </a:p>
          <a:p>
            <a:pPr>
              <a:lnSpc>
                <a:spcPct val="114000"/>
              </a:lnSpc>
            </a:pPr>
            <a:endParaRPr lang="de-DE" sz="1000" b="1" dirty="0" err="1">
              <a:latin typeface="+mn-lt"/>
            </a:endParaRPr>
          </a:p>
        </p:txBody>
      </p:sp>
      <p:sp>
        <p:nvSpPr>
          <p:cNvPr id="15" name="Sprechblase: oval 14">
            <a:extLst>
              <a:ext uri="{FF2B5EF4-FFF2-40B4-BE49-F238E27FC236}">
                <a16:creationId xmlns:a16="http://schemas.microsoft.com/office/drawing/2014/main" id="{7F5EFD29-4127-4BBF-940D-DE8C8192FBD1}"/>
              </a:ext>
            </a:extLst>
          </p:cNvPr>
          <p:cNvSpPr/>
          <p:nvPr/>
        </p:nvSpPr>
        <p:spPr>
          <a:xfrm>
            <a:off x="1187624" y="1059582"/>
            <a:ext cx="4328978" cy="2315710"/>
          </a:xfrm>
          <a:prstGeom prst="wedgeEllipseCallout">
            <a:avLst>
              <a:gd name="adj1" fmla="val 70048"/>
              <a:gd name="adj2" fmla="val -486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br>
              <a:rPr lang="en-US" sz="1600" dirty="0"/>
            </a:br>
            <a:endParaRPr lang="de-DE" sz="1600" noProof="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3E256B3-DD43-F2DB-D590-37375DD8C2D7}"/>
              </a:ext>
            </a:extLst>
          </p:cNvPr>
          <p:cNvSpPr txBox="1"/>
          <p:nvPr/>
        </p:nvSpPr>
        <p:spPr>
          <a:xfrm>
            <a:off x="1772959" y="1499155"/>
            <a:ext cx="3386325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We argue, along with behavioral IS researchers (Applegate 1999), that</a:t>
            </a: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it is possible and necessary for all IS research paradigms to be 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both rigorous and relevant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.</a:t>
            </a:r>
            <a:endParaRPr lang="de-DE" dirty="0" err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818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7D01-245E-855D-6B06-D830E1BA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DB877E-1BA3-C9F0-2383-689916F828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B0911A-4DB3-F25C-E75B-15B3E5A91EB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Next Generation Data Center Operations – 05 Design Science Research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91A9D17-7902-32A9-6750-441A5D98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Alan </a:t>
            </a:r>
            <a:r>
              <a:rPr lang="de-DE" dirty="0" err="1"/>
              <a:t>Hevner‘s</a:t>
            </a:r>
            <a:r>
              <a:rPr lang="de-DE" dirty="0"/>
              <a:t> Synthesis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E3E1EB-81DB-9909-01BB-0E55B8F9D5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Design Science Research?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D85B53F-E449-19D9-A439-2B2D22D73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956067"/>
            <a:ext cx="5139047" cy="380615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E9F1784-20DD-9381-C76A-8C7464FA27A3}"/>
              </a:ext>
            </a:extLst>
          </p:cNvPr>
          <p:cNvSpPr txBox="1"/>
          <p:nvPr/>
        </p:nvSpPr>
        <p:spPr>
          <a:xfrm>
            <a:off x="7164288" y="2234838"/>
            <a:ext cx="1812566" cy="8688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000" dirty="0">
                <a:latin typeface="+mn-lt"/>
              </a:rPr>
              <a:t>Taken from </a:t>
            </a:r>
            <a:r>
              <a:rPr lang="da-DK" sz="1000" dirty="0">
                <a:latin typeface="+mn-lt"/>
              </a:rPr>
              <a:t>Hevner, A.R., et al., </a:t>
            </a:r>
            <a:r>
              <a:rPr lang="en-US" sz="1000" i="1" dirty="0">
                <a:latin typeface="+mn-lt"/>
              </a:rPr>
              <a:t>Design science in information systems research.</a:t>
            </a:r>
            <a:r>
              <a:rPr lang="en-US" sz="1000" dirty="0">
                <a:latin typeface="+mn-lt"/>
              </a:rPr>
              <a:t> MIS Q., 2004. 28(1): p. 75–105.</a:t>
            </a:r>
          </a:p>
          <a:p>
            <a:pPr>
              <a:lnSpc>
                <a:spcPct val="114000"/>
              </a:lnSpc>
            </a:pPr>
            <a:endParaRPr lang="de-DE" sz="1000" b="1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0704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E93D-CBC7-3900-8B7B-0CC5E850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1376C2F-B2D6-E666-E9C5-4FDA5E05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96583"/>
          </a:xfrm>
        </p:spPr>
        <p:txBody>
          <a:bodyPr/>
          <a:lstStyle/>
          <a:p>
            <a:pPr algn="just"/>
            <a:r>
              <a:rPr lang="en-US" dirty="0"/>
              <a:t>Hevner’s Guidelines for Design</a:t>
            </a:r>
          </a:p>
        </p:txBody>
      </p:sp>
    </p:spTree>
    <p:extLst>
      <p:ext uri="{BB962C8B-B14F-4D97-AF65-F5344CB8AC3E}">
        <p14:creationId xmlns:p14="http://schemas.microsoft.com/office/powerpoint/2010/main" val="235439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1A89-6632-8BA6-8807-DAED563E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27135A0-8CB0-D847-DA39-731182C63B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A08BEB-B149-8BC0-D73F-46A900E30E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Next Generation Data Center Operations – 05 Design Science Research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74ECD0C-E281-C1EB-0368-9F0340F5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3120F7F-4B89-56D9-0147-062CCD1136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Hevner’s Guidelines for Design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68EBDD8-8B62-55B8-8AEA-B0E8C78912F1}"/>
              </a:ext>
            </a:extLst>
          </p:cNvPr>
          <p:cNvSpPr txBox="1"/>
          <p:nvPr/>
        </p:nvSpPr>
        <p:spPr>
          <a:xfrm>
            <a:off x="7290395" y="2131966"/>
            <a:ext cx="1656184" cy="1044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000" dirty="0">
                <a:latin typeface="+mn-lt"/>
              </a:rPr>
              <a:t>Taken from </a:t>
            </a:r>
            <a:r>
              <a:rPr lang="da-DK" sz="1000" dirty="0">
                <a:latin typeface="+mn-lt"/>
              </a:rPr>
              <a:t>Hevner, A.R., et al., </a:t>
            </a:r>
            <a:r>
              <a:rPr lang="en-US" sz="1000" i="1" dirty="0">
                <a:latin typeface="+mn-lt"/>
              </a:rPr>
              <a:t>Design science in information systems research.</a:t>
            </a:r>
            <a:r>
              <a:rPr lang="en-US" sz="1000" dirty="0">
                <a:latin typeface="+mn-lt"/>
              </a:rPr>
              <a:t> MIS Q., 2004. 28(1): p. 75–105.</a:t>
            </a:r>
          </a:p>
          <a:p>
            <a:pPr>
              <a:lnSpc>
                <a:spcPct val="114000"/>
              </a:lnSpc>
            </a:pPr>
            <a:endParaRPr lang="de-DE" sz="1000" b="1" dirty="0" err="1">
              <a:latin typeface="+mn-lt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A3EF1D4-7B2E-95BD-A090-5CD911F1C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764955"/>
            <a:ext cx="5340804" cy="398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1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5B598-7DB9-C16F-AEB9-9ACD5CD2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AF605BA-3323-CCBC-23D7-27B9488AA5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89AE46-AD7B-6794-EB1A-93C3944E02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Next Generation Data Center Operations – 05 Design Science Research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06697FE-A25E-C651-363F-96DE0DC2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Guideline 3 – Design Evaluation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BA0382C-6900-E135-19D9-6FBA8C0004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Hevner’s Guidelines for Design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E02576F-847D-50C2-06A7-6C6889723CBC}"/>
              </a:ext>
            </a:extLst>
          </p:cNvPr>
          <p:cNvSpPr txBox="1"/>
          <p:nvPr/>
        </p:nvSpPr>
        <p:spPr>
          <a:xfrm>
            <a:off x="7290395" y="2131966"/>
            <a:ext cx="1656184" cy="1044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000" dirty="0">
                <a:latin typeface="+mn-lt"/>
              </a:rPr>
              <a:t>Taken from </a:t>
            </a:r>
            <a:r>
              <a:rPr lang="da-DK" sz="1000" dirty="0">
                <a:latin typeface="+mn-lt"/>
              </a:rPr>
              <a:t>Hevner, A.R., et al., </a:t>
            </a:r>
            <a:r>
              <a:rPr lang="en-US" sz="1000" i="1" dirty="0">
                <a:latin typeface="+mn-lt"/>
              </a:rPr>
              <a:t>Design science in information systems research.</a:t>
            </a:r>
            <a:r>
              <a:rPr lang="en-US" sz="1000" dirty="0">
                <a:latin typeface="+mn-lt"/>
              </a:rPr>
              <a:t> MIS Q., 2004. 28(1): p. 75–105.</a:t>
            </a:r>
          </a:p>
          <a:p>
            <a:pPr>
              <a:lnSpc>
                <a:spcPct val="114000"/>
              </a:lnSpc>
            </a:pPr>
            <a:endParaRPr lang="de-DE" sz="1000" b="1" dirty="0" err="1">
              <a:latin typeface="+mn-lt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B21D555-97B2-8880-6021-DDF67A176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515" y="935311"/>
            <a:ext cx="5192969" cy="38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6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47EF-2265-4593-5BE4-7D9A064B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9F2E8D-8727-B64E-A5B4-8FF5941C72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0C70D8-6A82-E7B0-88B4-D9C42E62E67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Next Generation Data Center Operations – 05 Design Science Research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FD60438-570A-1A9D-EC1F-7DB3B524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Guideline 7 – Communication </a:t>
            </a:r>
            <a:r>
              <a:rPr lang="de-DE" dirty="0" err="1"/>
              <a:t>of</a:t>
            </a:r>
            <a:r>
              <a:rPr lang="de-DE" dirty="0"/>
              <a:t> Research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CBE1FD1-B4EF-40B4-D675-DF7A8F1D4F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Hevner’s Guidelines for Design</a:t>
            </a:r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DD6D08-2F45-76EB-788D-939809A413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1"/>
          <a:stretch>
            <a:fillRect/>
          </a:stretch>
        </p:blipFill>
        <p:spPr bwMode="auto">
          <a:xfrm>
            <a:off x="4730638" y="935311"/>
            <a:ext cx="4096370" cy="314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933A7D9-7157-4372-8A1C-DEFA22A5A1F7}"/>
              </a:ext>
            </a:extLst>
          </p:cNvPr>
          <p:cNvSpPr txBox="1"/>
          <p:nvPr/>
        </p:nvSpPr>
        <p:spPr>
          <a:xfrm>
            <a:off x="5004048" y="4055742"/>
            <a:ext cx="3822960" cy="362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7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Source: https://img.freepik.com/free-vector/communication-cartoon-design-concept-with-social-networks-signs-young-pare-talking-each-other-flat-vector-illustration_1284-80585.jpg?semt=ais_hybrid&amp;w=740&amp;q=80</a:t>
            </a: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A275AF57-B191-11BC-4617-87E48DDF9D20}"/>
              </a:ext>
            </a:extLst>
          </p:cNvPr>
          <p:cNvSpPr>
            <a:spLocks noGrp="1"/>
          </p:cNvSpPr>
          <p:nvPr>
            <p:ph idx="14"/>
          </p:nvPr>
        </p:nvSpPr>
        <p:spPr bwMode="auto">
          <a:xfrm>
            <a:off x="351516" y="987574"/>
            <a:ext cx="4652532" cy="3600400"/>
          </a:xfrm>
        </p:spPr>
        <p:txBody>
          <a:bodyPr/>
          <a:lstStyle/>
          <a:p>
            <a:pPr lvl="1">
              <a:defRPr/>
            </a:pPr>
            <a:r>
              <a:rPr lang="en-US" dirty="0"/>
              <a:t>You have to be able to address both </a:t>
            </a:r>
            <a:r>
              <a:rPr lang="en-US" b="1" dirty="0"/>
              <a:t>technically-</a:t>
            </a:r>
            <a:r>
              <a:rPr lang="en-US" dirty="0"/>
              <a:t> and </a:t>
            </a:r>
            <a:r>
              <a:rPr lang="en-US" b="1" dirty="0"/>
              <a:t>non-technically</a:t>
            </a:r>
            <a:r>
              <a:rPr lang="en-US" dirty="0"/>
              <a:t> orientated people</a:t>
            </a:r>
          </a:p>
          <a:p>
            <a:pPr lvl="1">
              <a:defRPr/>
            </a:pPr>
            <a:r>
              <a:rPr lang="en-US" dirty="0"/>
              <a:t>DSR researchers have to bridge the communication gap between them</a:t>
            </a:r>
          </a:p>
          <a:p>
            <a:pPr lvl="1">
              <a:defRPr/>
            </a:pPr>
            <a:r>
              <a:rPr lang="en-US" dirty="0"/>
              <a:t>Technically-orientated people often are interested in </a:t>
            </a:r>
          </a:p>
          <a:p>
            <a:pPr lvl="2">
              <a:defRPr/>
            </a:pPr>
            <a:r>
              <a:rPr lang="en-US" dirty="0"/>
              <a:t>Details</a:t>
            </a:r>
          </a:p>
          <a:p>
            <a:pPr lvl="2">
              <a:defRPr/>
            </a:pPr>
            <a:r>
              <a:rPr lang="en-US" dirty="0"/>
              <a:t>Mechanisms of functionality</a:t>
            </a:r>
          </a:p>
          <a:p>
            <a:pPr lvl="2">
              <a:defRPr/>
            </a:pPr>
            <a:r>
              <a:rPr lang="en-US" dirty="0"/>
              <a:t>Construction plans</a:t>
            </a:r>
          </a:p>
          <a:p>
            <a:pPr lvl="2">
              <a:defRPr/>
            </a:pPr>
            <a:r>
              <a:rPr lang="en-US" dirty="0"/>
              <a:t>Proof of work</a:t>
            </a:r>
          </a:p>
          <a:p>
            <a:pPr lvl="2">
              <a:defRPr/>
            </a:pPr>
            <a:r>
              <a:rPr lang="en-US" dirty="0"/>
              <a:t>“Beauty”/Sophistication of the solution</a:t>
            </a:r>
          </a:p>
          <a:p>
            <a:pPr lvl="1">
              <a:defRPr/>
            </a:pPr>
            <a:r>
              <a:rPr lang="en-US" dirty="0"/>
              <a:t>Non-technically-orientated people (managers) are often interested in</a:t>
            </a:r>
          </a:p>
          <a:p>
            <a:pPr lvl="2">
              <a:defRPr/>
            </a:pPr>
            <a:r>
              <a:rPr lang="en-US" dirty="0"/>
              <a:t>Broad overviews</a:t>
            </a:r>
          </a:p>
          <a:p>
            <a:pPr lvl="2">
              <a:defRPr/>
            </a:pPr>
            <a:r>
              <a:rPr lang="en-US" dirty="0"/>
              <a:t>Resource consumption</a:t>
            </a:r>
          </a:p>
          <a:p>
            <a:pPr lvl="2">
              <a:defRPr/>
            </a:pPr>
            <a:r>
              <a:rPr lang="en-US" dirty="0"/>
              <a:t>Organizational impact</a:t>
            </a:r>
          </a:p>
          <a:p>
            <a:pPr lvl="2">
              <a:defRPr/>
            </a:pPr>
            <a:r>
              <a:rPr lang="en-US" dirty="0"/>
              <a:t>Problem relevance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24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8D97-862C-A055-DBF8-6A3D8061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7CDD44-EE7A-C478-4947-EC4950C425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43FD44-9381-9468-6331-B67F1D55175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Next Generation Data Center Operations – 05 Design Science Research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271BEBE-5212-BE5B-533A-AF3A5F1A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Who </a:t>
            </a:r>
            <a:r>
              <a:rPr lang="de-DE" dirty="0" err="1"/>
              <a:t>fails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comunicate</a:t>
            </a:r>
            <a:r>
              <a:rPr lang="de-DE" dirty="0"/>
              <a:t> </a:t>
            </a:r>
            <a:r>
              <a:rPr lang="de-DE" dirty="0" err="1"/>
              <a:t>ofteh</a:t>
            </a:r>
            <a:r>
              <a:rPr lang="de-DE" dirty="0"/>
              <a:t> </a:t>
            </a:r>
            <a:r>
              <a:rPr lang="de-DE" dirty="0" err="1"/>
              <a:t>hits</a:t>
            </a:r>
            <a:r>
              <a:rPr lang="de-DE" dirty="0"/>
              <a:t> a Glas Wall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02403DC-D14A-0A76-9B7A-CFBF281975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Hevner’s Guidelines for Design</a:t>
            </a:r>
            <a:endParaRPr lang="de-DE" dirty="0"/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CA6CBC68-A1CD-078B-D5F4-A95DA1731785}"/>
              </a:ext>
            </a:extLst>
          </p:cNvPr>
          <p:cNvSpPr>
            <a:spLocks noGrp="1"/>
          </p:cNvSpPr>
          <p:nvPr>
            <p:ph idx="14"/>
          </p:nvPr>
        </p:nvSpPr>
        <p:spPr bwMode="auto">
          <a:xfrm>
            <a:off x="351516" y="987574"/>
            <a:ext cx="4652532" cy="3600400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3074" name="Picture 2" descr="Clipart of a confused man bumping into a transparent glass wall obstacle.">
            <a:extLst>
              <a:ext uri="{FF2B5EF4-FFF2-40B4-BE49-F238E27FC236}">
                <a16:creationId xmlns:a16="http://schemas.microsoft.com/office/drawing/2014/main" id="{5FBA2B11-5B12-3673-484B-734E841B29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51"/>
          <a:stretch>
            <a:fillRect/>
          </a:stretch>
        </p:blipFill>
        <p:spPr bwMode="auto">
          <a:xfrm>
            <a:off x="4788023" y="1195071"/>
            <a:ext cx="4096821" cy="3176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CE3E7B9-6FCD-8095-DDB2-203A29870FF4}"/>
              </a:ext>
            </a:extLst>
          </p:cNvPr>
          <p:cNvSpPr txBox="1"/>
          <p:nvPr/>
        </p:nvSpPr>
        <p:spPr>
          <a:xfrm>
            <a:off x="4788023" y="4446978"/>
            <a:ext cx="2736304" cy="1169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7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Image </a:t>
            </a:r>
            <a:r>
              <a:rPr lang="de-DE" sz="700" dirty="0" err="1">
                <a:solidFill>
                  <a:schemeClr val="bg1">
                    <a:lumMod val="75000"/>
                  </a:schemeClr>
                </a:solidFill>
                <a:latin typeface="+mn-lt"/>
              </a:rPr>
              <a:t>generated</a:t>
            </a:r>
            <a:r>
              <a:rPr lang="de-DE" sz="7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 </a:t>
            </a:r>
            <a:r>
              <a:rPr lang="de-DE" sz="700" dirty="0" err="1">
                <a:solidFill>
                  <a:schemeClr val="bg1">
                    <a:lumMod val="75000"/>
                  </a:schemeClr>
                </a:solidFill>
                <a:latin typeface="+mn-lt"/>
              </a:rPr>
              <a:t>using</a:t>
            </a:r>
            <a:r>
              <a:rPr lang="de-DE" sz="7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 Perplexity.AI Pro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AC6F616-98E1-AE6B-EF33-96886D74D2D6}"/>
              </a:ext>
            </a:extLst>
          </p:cNvPr>
          <p:cNvSpPr txBox="1"/>
          <p:nvPr/>
        </p:nvSpPr>
        <p:spPr>
          <a:xfrm>
            <a:off x="351516" y="1131590"/>
            <a:ext cx="4292492" cy="27939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Bad </a:t>
            </a:r>
            <a:r>
              <a:rPr lang="de-DE" sz="1600" dirty="0" err="1">
                <a:latin typeface="+mn-lt"/>
              </a:rPr>
              <a:t>communication</a:t>
            </a:r>
            <a:r>
              <a:rPr lang="de-DE" sz="1600" dirty="0">
                <a:latin typeface="+mn-lt"/>
              </a:rPr>
              <a:t>/Bad </a:t>
            </a:r>
            <a:r>
              <a:rPr lang="de-DE" sz="1600" dirty="0" err="1">
                <a:latin typeface="+mn-lt"/>
              </a:rPr>
              <a:t>presentation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does</a:t>
            </a:r>
            <a:r>
              <a:rPr lang="de-DE" sz="1600" dirty="0">
                <a:latin typeface="+mn-lt"/>
              </a:rPr>
              <a:t> (</a:t>
            </a:r>
            <a:r>
              <a:rPr lang="de-DE" sz="1600" dirty="0" err="1">
                <a:latin typeface="+mn-lt"/>
              </a:rPr>
              <a:t>usually</a:t>
            </a:r>
            <a:r>
              <a:rPr lang="de-DE" sz="1600" dirty="0">
                <a:latin typeface="+mn-lt"/>
              </a:rPr>
              <a:t>) not </a:t>
            </a:r>
            <a:r>
              <a:rPr lang="de-DE" sz="1600" dirty="0" err="1">
                <a:latin typeface="+mn-lt"/>
              </a:rPr>
              <a:t>lead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to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disapproving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feedback</a:t>
            </a:r>
            <a:r>
              <a:rPr lang="de-DE" sz="1600" dirty="0">
                <a:latin typeface="+mn-lt"/>
              </a:rPr>
              <a:t>, but </a:t>
            </a:r>
            <a:r>
              <a:rPr lang="de-DE" sz="1600" dirty="0" err="1">
                <a:latin typeface="+mn-lt"/>
              </a:rPr>
              <a:t>to</a:t>
            </a:r>
            <a:r>
              <a:rPr lang="de-DE" sz="1600" dirty="0">
                <a:latin typeface="+mn-lt"/>
              </a:rPr>
              <a:t> a fade out </a:t>
            </a:r>
            <a:r>
              <a:rPr lang="de-DE" sz="1600" dirty="0" err="1">
                <a:latin typeface="+mn-lt"/>
              </a:rPr>
              <a:t>of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communication</a:t>
            </a:r>
            <a:endParaRPr lang="de-DE" sz="1600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Who </a:t>
            </a:r>
            <a:r>
              <a:rPr lang="de-DE" sz="1600" dirty="0" err="1">
                <a:latin typeface="+mn-lt"/>
              </a:rPr>
              <a:t>cannot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communicate</a:t>
            </a:r>
            <a:r>
              <a:rPr lang="de-DE" sz="1600" dirty="0">
                <a:latin typeface="+mn-lt"/>
              </a:rPr>
              <a:t>/</a:t>
            </a:r>
            <a:r>
              <a:rPr lang="de-DE" sz="1600" dirty="0" err="1">
                <a:latin typeface="+mn-lt"/>
              </a:rPr>
              <a:t>present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their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ideas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normally</a:t>
            </a:r>
            <a:r>
              <a:rPr lang="de-DE" sz="1600" dirty="0">
                <a:latin typeface="+mn-lt"/>
              </a:rPr>
              <a:t> will not </a:t>
            </a:r>
            <a:r>
              <a:rPr lang="de-DE" sz="1600" dirty="0" err="1">
                <a:latin typeface="+mn-lt"/>
              </a:rPr>
              <a:t>receive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questions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or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feedback</a:t>
            </a:r>
            <a:r>
              <a:rPr lang="de-DE" sz="1600" dirty="0">
                <a:latin typeface="+mn-lt"/>
              </a:rPr>
              <a:t> but </a:t>
            </a:r>
            <a:r>
              <a:rPr lang="de-DE" sz="1600" dirty="0" err="1">
                <a:latin typeface="+mn-lt"/>
              </a:rPr>
              <a:t>ignorance</a:t>
            </a:r>
            <a:endParaRPr lang="de-DE" sz="1600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Many </a:t>
            </a:r>
            <a:r>
              <a:rPr lang="de-DE" sz="1600" dirty="0" err="1">
                <a:latin typeface="+mn-lt"/>
              </a:rPr>
              <a:t>people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later</a:t>
            </a:r>
            <a:r>
              <a:rPr lang="de-DE" sz="1600" dirty="0">
                <a:latin typeface="+mn-lt"/>
              </a:rPr>
              <a:t> on </a:t>
            </a:r>
            <a:r>
              <a:rPr lang="de-DE" sz="1600" dirty="0" err="1">
                <a:latin typeface="+mn-lt"/>
              </a:rPr>
              <a:t>hit</a:t>
            </a:r>
            <a:r>
              <a:rPr lang="de-DE" sz="1600" dirty="0">
                <a:latin typeface="+mn-lt"/>
              </a:rPr>
              <a:t> a glas wall: „</a:t>
            </a:r>
            <a:r>
              <a:rPr lang="de-DE" sz="1600" dirty="0" err="1">
                <a:latin typeface="+mn-lt"/>
              </a:rPr>
              <a:t>Why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are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my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ideas</a:t>
            </a:r>
            <a:r>
              <a:rPr lang="de-DE" sz="1600" dirty="0">
                <a:latin typeface="+mn-lt"/>
              </a:rPr>
              <a:t> not </a:t>
            </a:r>
            <a:r>
              <a:rPr lang="de-DE" sz="1600" dirty="0" err="1">
                <a:latin typeface="+mn-lt"/>
              </a:rPr>
              <a:t>heard</a:t>
            </a:r>
            <a:r>
              <a:rPr lang="de-DE" sz="1600" dirty="0">
                <a:latin typeface="+mn-lt"/>
              </a:rPr>
              <a:t>? </a:t>
            </a:r>
            <a:r>
              <a:rPr lang="de-DE" sz="1600" dirty="0" err="1">
                <a:latin typeface="+mn-lt"/>
              </a:rPr>
              <a:t>Why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is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my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performance</a:t>
            </a:r>
            <a:r>
              <a:rPr lang="de-DE" sz="1600" dirty="0">
                <a:latin typeface="+mn-lt"/>
              </a:rPr>
              <a:t> not </a:t>
            </a:r>
            <a:r>
              <a:rPr lang="de-DE" sz="1600" dirty="0" err="1">
                <a:latin typeface="+mn-lt"/>
              </a:rPr>
              <a:t>seen</a:t>
            </a:r>
            <a:r>
              <a:rPr lang="de-DE" sz="1600" dirty="0">
                <a:latin typeface="+mn-lt"/>
              </a:rPr>
              <a:t>?“ – </a:t>
            </a:r>
            <a:r>
              <a:rPr lang="de-DE" sz="1600" dirty="0" err="1">
                <a:latin typeface="+mn-lt"/>
              </a:rPr>
              <a:t>because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they</a:t>
            </a:r>
            <a:r>
              <a:rPr lang="de-DE" sz="1600" dirty="0">
                <a:latin typeface="+mn-lt"/>
              </a:rPr>
              <a:t> just </a:t>
            </a:r>
            <a:r>
              <a:rPr lang="de-DE" sz="1600" dirty="0" err="1">
                <a:latin typeface="+mn-lt"/>
              </a:rPr>
              <a:t>cannot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communicate</a:t>
            </a:r>
            <a:r>
              <a:rPr lang="de-DE" sz="16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4397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7AF3-BD2E-402C-F4D8-C4B0125E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D8D06C9-5C6C-D8FE-BD68-0BFB3F5B0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96583"/>
          </a:xfrm>
        </p:spPr>
        <p:txBody>
          <a:bodyPr/>
          <a:lstStyle/>
          <a:p>
            <a:pPr algn="just"/>
            <a:r>
              <a:rPr lang="en-US" dirty="0"/>
              <a:t>Design Science Project Cycle</a:t>
            </a:r>
          </a:p>
        </p:txBody>
      </p:sp>
    </p:spTree>
    <p:extLst>
      <p:ext uri="{BB962C8B-B14F-4D97-AF65-F5344CB8AC3E}">
        <p14:creationId xmlns:p14="http://schemas.microsoft.com/office/powerpoint/2010/main" val="115989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9ECA-8095-C361-BEFA-367EE89D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">
            <a:extLst>
              <a:ext uri="{FF2B5EF4-FFF2-40B4-BE49-F238E27FC236}">
                <a16:creationId xmlns:a16="http://schemas.microsoft.com/office/drawing/2014/main" id="{C6AACD70-857D-BD84-3FC1-72953A3DE102}"/>
              </a:ext>
            </a:extLst>
          </p:cNvPr>
          <p:cNvSpPr>
            <a:spLocks noGrp="1"/>
          </p:cNvSpPr>
          <p:nvPr>
            <p:ph idx="14"/>
          </p:nvPr>
        </p:nvSpPr>
        <p:spPr bwMode="auto">
          <a:xfrm>
            <a:off x="319091" y="1131590"/>
            <a:ext cx="4180910" cy="36004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endParaRPr lang="en-US" dirty="0"/>
          </a:p>
          <a:p>
            <a:pPr>
              <a:spcAft>
                <a:spcPts val="600"/>
              </a:spcAft>
              <a:defRPr/>
            </a:pPr>
            <a:endParaRPr lang="en-US" dirty="0"/>
          </a:p>
          <a:p>
            <a:pPr>
              <a:spcAft>
                <a:spcPts val="600"/>
              </a:spcAft>
              <a:defRPr/>
            </a:pPr>
            <a:endParaRPr lang="en-US" dirty="0"/>
          </a:p>
          <a:p>
            <a:pPr marL="0" lvl="1" indent="0">
              <a:spcAft>
                <a:spcPts val="600"/>
              </a:spcAft>
              <a:buNone/>
              <a:defRPr/>
            </a:pPr>
            <a:endParaRPr lang="en-US" dirty="0"/>
          </a:p>
          <a:p>
            <a:pPr>
              <a:spcAft>
                <a:spcPts val="600"/>
              </a:spcAft>
              <a:defRPr/>
            </a:pPr>
            <a:endParaRPr lang="en-US" dirty="0"/>
          </a:p>
          <a:p>
            <a:pPr>
              <a:spcAft>
                <a:spcPts val="600"/>
              </a:spcAft>
              <a:defRPr/>
            </a:pP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DCC98E-580A-2385-7DBC-8EF3752B42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74934" y="4854985"/>
            <a:ext cx="2052074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14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2A22A2-7CFF-D396-0578-32422BB17C5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4854985"/>
            <a:ext cx="64642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Next Generation Data Center Operations – 05 Design Science Research</a:t>
            </a:r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9ABE846-6F47-F931-1CA3-1D7D969F2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7" y="555526"/>
            <a:ext cx="7416825" cy="30777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Three Cycles of Design Science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5B440D9-9880-470C-F76C-8220593DBE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527" y="267494"/>
            <a:ext cx="7416825" cy="2160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/>
              <a:t>Design Science Project Cycle</a:t>
            </a:r>
            <a:endParaRPr lang="de-DE" sz="9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D6BC95F-76CA-78E0-5B18-283E62C54069}"/>
              </a:ext>
            </a:extLst>
          </p:cNvPr>
          <p:cNvSpPr txBox="1"/>
          <p:nvPr/>
        </p:nvSpPr>
        <p:spPr>
          <a:xfrm>
            <a:off x="1583661" y="4130236"/>
            <a:ext cx="6120680" cy="5179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000" dirty="0">
                <a:latin typeface="+mn-lt"/>
              </a:rPr>
              <a:t>Taken from </a:t>
            </a:r>
            <a:r>
              <a:rPr lang="de-DE" sz="1000" dirty="0" err="1">
                <a:latin typeface="+mn-lt"/>
              </a:rPr>
              <a:t>Hevner</a:t>
            </a:r>
            <a:r>
              <a:rPr lang="de-DE" sz="1000" dirty="0">
                <a:latin typeface="+mn-lt"/>
              </a:rPr>
              <a:t>, A., </a:t>
            </a:r>
            <a:r>
              <a:rPr lang="en-US" sz="1000" i="1" dirty="0">
                <a:latin typeface="+mn-lt"/>
              </a:rPr>
              <a:t>A Three Cycle View of Design Science Research.</a:t>
            </a:r>
            <a:r>
              <a:rPr lang="en-US" sz="1000" dirty="0">
                <a:latin typeface="+mn-lt"/>
              </a:rPr>
              <a:t> Scandinavian Journal of Information Systems, 2007. </a:t>
            </a:r>
            <a:r>
              <a:rPr lang="en-US" sz="1000" b="1" dirty="0">
                <a:latin typeface="+mn-lt"/>
              </a:rPr>
              <a:t>19</a:t>
            </a:r>
            <a:r>
              <a:rPr lang="en-US" sz="1000" dirty="0">
                <a:latin typeface="+mn-lt"/>
              </a:rPr>
              <a:t>.</a:t>
            </a:r>
          </a:p>
          <a:p>
            <a:pPr>
              <a:lnSpc>
                <a:spcPct val="114000"/>
              </a:lnSpc>
            </a:pPr>
            <a:endParaRPr lang="de-DE" sz="1000" b="1" dirty="0" err="1">
              <a:latin typeface="+mn-lt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0152706-153E-5743-F0CC-697239B21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702" y="1077006"/>
            <a:ext cx="6264696" cy="298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41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3F7E-C2D6-97C2-63E9-549B69487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DF978A3-7C57-E062-C920-133CCEBAE6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74934" y="4854985"/>
            <a:ext cx="2052074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15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8BBAC6-66C6-5BBD-E60A-2C3A1BC063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4854985"/>
            <a:ext cx="64642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Next Generation Data Center Operations – 05 Design Science Research</a:t>
            </a:r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487C5E2-311E-48D8-EA2D-0769E873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7" y="555526"/>
            <a:ext cx="7416825" cy="30777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Design Project Cycle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810236C-48DC-6C52-5178-0AF32C83B6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527" y="267494"/>
            <a:ext cx="7416825" cy="2160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/>
              <a:t>Design Science Project Cycle</a:t>
            </a:r>
            <a:endParaRPr lang="de-DE" sz="9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CCC79A6-9B5C-E802-49BF-9C456886728B}"/>
              </a:ext>
            </a:extLst>
          </p:cNvPr>
          <p:cNvSpPr txBox="1"/>
          <p:nvPr/>
        </p:nvSpPr>
        <p:spPr>
          <a:xfrm>
            <a:off x="353633" y="2089316"/>
            <a:ext cx="2952328" cy="8688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000" dirty="0">
                <a:latin typeface="+mn-lt"/>
              </a:rPr>
              <a:t>Taken from</a:t>
            </a:r>
            <a:r>
              <a:rPr lang="en-US" sz="1000" dirty="0">
                <a:latin typeface="+mn-lt"/>
              </a:rPr>
              <a:t> Brocke, </a:t>
            </a:r>
            <a:r>
              <a:rPr lang="en-US" sz="1000" dirty="0" err="1">
                <a:latin typeface="+mn-lt"/>
              </a:rPr>
              <a:t>J.v.</a:t>
            </a:r>
            <a:r>
              <a:rPr lang="en-US" sz="1000" dirty="0">
                <a:latin typeface="+mn-lt"/>
              </a:rPr>
              <a:t> and C. </a:t>
            </a:r>
            <a:r>
              <a:rPr lang="en-US" sz="1000" dirty="0" err="1">
                <a:latin typeface="+mn-lt"/>
              </a:rPr>
              <a:t>Buddendick</a:t>
            </a:r>
            <a:r>
              <a:rPr lang="en-US" sz="1000" dirty="0">
                <a:latin typeface="+mn-lt"/>
              </a:rPr>
              <a:t>, </a:t>
            </a:r>
            <a:r>
              <a:rPr lang="en-US" sz="1000" i="1" dirty="0">
                <a:latin typeface="+mn-lt"/>
              </a:rPr>
              <a:t>Reusable Conceptual Models-Requirements Based on the Design Science Research Paradigm</a:t>
            </a:r>
            <a:r>
              <a:rPr lang="en-US" sz="1000" dirty="0">
                <a:latin typeface="+mn-lt"/>
              </a:rPr>
              <a:t>, in </a:t>
            </a:r>
            <a:r>
              <a:rPr lang="en-US" sz="1000" i="1" dirty="0">
                <a:latin typeface="+mn-lt"/>
              </a:rPr>
              <a:t>DESRIST 2006</a:t>
            </a:r>
            <a:r>
              <a:rPr lang="en-US" sz="1000" dirty="0">
                <a:latin typeface="+mn-lt"/>
              </a:rPr>
              <a:t>. Claremont, CA.</a:t>
            </a:r>
          </a:p>
          <a:p>
            <a:pPr>
              <a:lnSpc>
                <a:spcPct val="114000"/>
              </a:lnSpc>
            </a:pPr>
            <a:endParaRPr lang="de-DE" sz="1000" i="1" dirty="0" err="1">
              <a:latin typeface="+mn-lt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855ED3C-6B9B-5D87-5D27-F1B941E03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732678"/>
            <a:ext cx="4343791" cy="401559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880582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BD9C-E95B-1364-7D64-A1D522D4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80C5C3F-A23A-07F4-D0AF-9479306863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74934" y="4854985"/>
            <a:ext cx="2052074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16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0C9EF9-4B64-94E9-A777-23E2CF452E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11162" y="4854985"/>
            <a:ext cx="64642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Next Generation Data Center Operations – 05 Design Science Research</a:t>
            </a:r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CCB311B-DC58-A210-FD33-D46FB0F46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7" y="555526"/>
            <a:ext cx="7416825" cy="307777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Important Lessons for your Project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E1E061-2665-C428-8933-C66A03BBBB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527" y="267494"/>
            <a:ext cx="7416825" cy="2160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/>
              <a:t>Design Science Project Cycle</a:t>
            </a:r>
            <a:endParaRPr lang="de-DE" sz="900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FD09769-D1FD-87B6-B1D1-5EA933DC4998}"/>
              </a:ext>
            </a:extLst>
          </p:cNvPr>
          <p:cNvSpPr>
            <a:spLocks noGrp="1"/>
          </p:cNvSpPr>
          <p:nvPr>
            <p:ph idx="14"/>
          </p:nvPr>
        </p:nvSpPr>
        <p:spPr bwMode="auto">
          <a:xfrm>
            <a:off x="311162" y="1300300"/>
            <a:ext cx="4684957" cy="2232248"/>
          </a:xfrm>
        </p:spPr>
        <p:txBody>
          <a:bodyPr/>
          <a:lstStyle/>
          <a:p>
            <a:pPr marL="342900" indent="-342900">
              <a:buAutoNum type="arabicPeriod"/>
              <a:defRPr/>
            </a:pPr>
            <a:r>
              <a:rPr lang="en-US" dirty="0"/>
              <a:t>Clearly </a:t>
            </a:r>
            <a:r>
              <a:rPr lang="en-US" b="1" dirty="0"/>
              <a:t>determine</a:t>
            </a:r>
            <a:r>
              <a:rPr lang="en-US" dirty="0"/>
              <a:t> your requirements – it is the customer who </a:t>
            </a:r>
            <a:r>
              <a:rPr lang="en-US" b="1" dirty="0"/>
              <a:t>defines</a:t>
            </a:r>
            <a:r>
              <a:rPr lang="en-US" dirty="0"/>
              <a:t> the requirement!</a:t>
            </a:r>
          </a:p>
          <a:p>
            <a:pPr marL="342900" indent="-342900">
              <a:buAutoNum type="arabicPeriod"/>
              <a:defRPr/>
            </a:pPr>
            <a:r>
              <a:rPr lang="en-US" dirty="0"/>
              <a:t>Invest time and effort to </a:t>
            </a:r>
            <a:r>
              <a:rPr lang="en-US" b="1" dirty="0"/>
              <a:t>understand</a:t>
            </a:r>
            <a:r>
              <a:rPr lang="en-US" dirty="0"/>
              <a:t> the problem and its environment.</a:t>
            </a:r>
          </a:p>
          <a:p>
            <a:pPr marL="342900" indent="-342900">
              <a:buAutoNum type="arabicPeriod"/>
              <a:defRPr/>
            </a:pPr>
            <a:r>
              <a:rPr lang="en-US" dirty="0"/>
              <a:t>Build your artifact </a:t>
            </a:r>
            <a:r>
              <a:rPr lang="en-US" b="1" dirty="0"/>
              <a:t>iteratively</a:t>
            </a:r>
          </a:p>
          <a:p>
            <a:pPr marL="342900" indent="-342900">
              <a:buAutoNum type="arabicPeriod"/>
              <a:defRPr/>
            </a:pPr>
            <a:r>
              <a:rPr lang="en-US" dirty="0"/>
              <a:t>Evaluate your artifact against your requirements – not only against easy measurable KPIs</a:t>
            </a:r>
          </a:p>
          <a:p>
            <a:pPr marL="342900" indent="-342900">
              <a:buAutoNum type="arabicPeriod"/>
              <a:defRPr/>
            </a:pPr>
            <a:r>
              <a:rPr lang="en-US" dirty="0"/>
              <a:t>Document your findings and learnings not only your artifact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1026" name="Picture 2" descr="Logo for Design Science Research">
            <a:extLst>
              <a:ext uri="{FF2B5EF4-FFF2-40B4-BE49-F238E27FC236}">
                <a16:creationId xmlns:a16="http://schemas.microsoft.com/office/drawing/2014/main" id="{E2F5CA73-B89F-8BD2-DB80-D3027E6EE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9" r="9595"/>
          <a:stretch>
            <a:fillRect/>
          </a:stretch>
        </p:blipFill>
        <p:spPr bwMode="auto">
          <a:xfrm>
            <a:off x="5599949" y="1013539"/>
            <a:ext cx="2861263" cy="346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53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8162341-686C-6DD9-8ADD-16DBF32A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32" y="2355726"/>
            <a:ext cx="4176464" cy="576064"/>
          </a:xfrm>
        </p:spPr>
        <p:txBody>
          <a:bodyPr/>
          <a:lstStyle/>
          <a:p>
            <a:r>
              <a:rPr lang="de-DE" sz="2800" dirty="0" err="1"/>
              <a:t>Thank</a:t>
            </a:r>
            <a:r>
              <a:rPr lang="de-DE" sz="2800" dirty="0"/>
              <a:t> </a:t>
            </a:r>
            <a:r>
              <a:rPr lang="de-DE" sz="2800" dirty="0" err="1"/>
              <a:t>you</a:t>
            </a:r>
            <a:r>
              <a:rPr lang="de-DE" sz="2800" dirty="0"/>
              <a:t> </a:t>
            </a:r>
            <a:r>
              <a:rPr lang="de-DE" sz="2800" dirty="0" err="1"/>
              <a:t>for</a:t>
            </a:r>
            <a:r>
              <a:rPr lang="de-DE" sz="2800" dirty="0"/>
              <a:t> </a:t>
            </a:r>
            <a:r>
              <a:rPr lang="de-DE" sz="2800" dirty="0" err="1"/>
              <a:t>your</a:t>
            </a:r>
            <a:r>
              <a:rPr lang="de-DE" sz="2800" dirty="0"/>
              <a:t> </a:t>
            </a:r>
            <a:r>
              <a:rPr lang="de-DE" sz="2800" dirty="0" err="1"/>
              <a:t>attention</a:t>
            </a:r>
            <a:r>
              <a:rPr lang="de-DE" sz="2800" dirty="0"/>
              <a:t>!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0FA35F0-EDCE-588F-D31D-896046BD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953655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Ohne Lehrstuhl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CF49AD9-0A80-4C34-AC08-9FDB6687BF92}"/>
    </a:ext>
  </a:extLst>
</a:theme>
</file>

<file path=ppt/theme/theme2.xml><?xml version="1.0" encoding="utf-8"?>
<a:theme xmlns:a="http://schemas.openxmlformats.org/drawingml/2006/main" name="Kapiteltrenner bunt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7182AC18-5F70-4E3D-A11B-EC19BD98739E}"/>
    </a:ext>
  </a:extLst>
</a:theme>
</file>

<file path=ppt/theme/theme3.xml><?xml version="1.0" encoding="utf-8"?>
<a:theme xmlns:a="http://schemas.openxmlformats.org/drawingml/2006/main" name="Titel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1FABF2E0-D3D5-4A9B-A83C-FD7216ECBF2D}"/>
    </a:ext>
  </a:extLst>
</a:theme>
</file>

<file path=ppt/theme/theme4.xml><?xml version="1.0" encoding="utf-8"?>
<a:theme xmlns:a="http://schemas.openxmlformats.org/drawingml/2006/main" name="UCC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5.xml><?xml version="1.0" encoding="utf-8"?>
<a:theme xmlns:a="http://schemas.openxmlformats.org/drawingml/2006/main" name="TUM_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defRPr sz="1000" noProof="0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02BFF585-A441-49D1-B16D-185EEF5BC950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83304FFD-6A5E-442F-80E3-AA2468BAFA22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D7A77EF-489B-4E50-B2D8-268FEA5ED105}" vid="{43FBA60C-AA89-4C79-9DBF-F0A40B5FBB24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ECA252503CEBA4F96E24E33BFD98D17" ma:contentTypeVersion="5" ma:contentTypeDescription="Ein neues Dokument erstellen." ma:contentTypeScope="" ma:versionID="e513260cd94595724d6723e994e07dce">
  <xsd:schema xmlns:xsd="http://www.w3.org/2001/XMLSchema" xmlns:xs="http://www.w3.org/2001/XMLSchema" xmlns:p="http://schemas.microsoft.com/office/2006/metadata/properties" xmlns:ns2="2dabed69-2cd2-4795-9d32-589774afbfaf" targetNamespace="http://schemas.microsoft.com/office/2006/metadata/properties" ma:root="true" ma:fieldsID="3f2145edbd0a44f434925f83aff4b522" ns2:_="">
    <xsd:import namespace="2dabed69-2cd2-4795-9d32-589774afbf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Kommenta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abed69-2cd2-4795-9d32-589774afbf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Kommentar" ma:index="12" nillable="true" ma:displayName="Kommentar" ma:format="Dropdown" ma:internalName="Kommentar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ommentar xmlns="2dabed69-2cd2-4795-9d32-589774afbfa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E4CE5E-B4A9-4B5F-80F2-42DD1F6857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abed69-2cd2-4795-9d32-589774afbf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564651-E30D-4632-9F60-0683872A6C5E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2dabed69-2cd2-4795-9d32-589774afbfaf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B07B675-79CD-4A17-98DC-6F2B944996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2111_Praesentationsvorlage_16-9_own_v2-1</Template>
  <TotalTime>0</TotalTime>
  <Words>891</Words>
  <Application>Microsoft Office PowerPoint</Application>
  <PresentationFormat>Bildschirmpräsentation (16:9)</PresentationFormat>
  <Paragraphs>154</Paragraphs>
  <Slides>17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7</vt:i4>
      </vt:variant>
      <vt:variant>
        <vt:lpstr>Folientitel</vt:lpstr>
      </vt:variant>
      <vt:variant>
        <vt:i4>17</vt:i4>
      </vt:variant>
    </vt:vector>
  </HeadingPairs>
  <TitlesOfParts>
    <vt:vector size="30" baseType="lpstr">
      <vt:lpstr>Aptos</vt:lpstr>
      <vt:lpstr>Arial</vt:lpstr>
      <vt:lpstr>Calibri</vt:lpstr>
      <vt:lpstr>Courier New</vt:lpstr>
      <vt:lpstr>Symbol</vt:lpstr>
      <vt:lpstr>Wingdings</vt:lpstr>
      <vt:lpstr>Title Ohne Lehrstuhl</vt:lpstr>
      <vt:lpstr>Kapiteltrenner bunt</vt:lpstr>
      <vt:lpstr>Titel</vt:lpstr>
      <vt:lpstr>UCC_Inhalt</vt:lpstr>
      <vt:lpstr>TUM_Inhalt</vt:lpstr>
      <vt:lpstr>Kapiteltrenner blau</vt:lpstr>
      <vt:lpstr>Kapiteltrenner schwarz</vt:lpstr>
      <vt:lpstr>Design Science Research</vt:lpstr>
      <vt:lpstr>Agenda</vt:lpstr>
      <vt:lpstr>What is Design Science Research?</vt:lpstr>
      <vt:lpstr>Design Science Research</vt:lpstr>
      <vt:lpstr>Early 2000s – Information Systems is forming</vt:lpstr>
      <vt:lpstr>Alan Hevner‘s Synthesis</vt:lpstr>
      <vt:lpstr>Alan Hevner‘s Synthesis</vt:lpstr>
      <vt:lpstr>Hevner’s Guidelines for Design</vt:lpstr>
      <vt:lpstr>Overview</vt:lpstr>
      <vt:lpstr>Guideline 3 – Design Evaluation</vt:lpstr>
      <vt:lpstr>Guideline 7 – Communication of Research</vt:lpstr>
      <vt:lpstr>Who fails to comunicate ofteh hits a Glas Wall</vt:lpstr>
      <vt:lpstr>Design Science Project Cycle</vt:lpstr>
      <vt:lpstr>Three Cycles of Design Science</vt:lpstr>
      <vt:lpstr>Design Project Cycle</vt:lpstr>
      <vt:lpstr>Important Lessons for your Project</vt:lpstr>
      <vt:lpstr>Thank you for your attention!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 Next-Generation Data Center Curriculum:  Teaching AI Hosting Skills on IBM Power</dc:title>
  <dc:creator>Philipp Landler</dc:creator>
  <cp:lastModifiedBy>Simon Fuchs</cp:lastModifiedBy>
  <cp:revision>216</cp:revision>
  <cp:lastPrinted>2015-07-30T14:04:45Z</cp:lastPrinted>
  <dcterms:created xsi:type="dcterms:W3CDTF">2024-10-09T16:17:20Z</dcterms:created>
  <dcterms:modified xsi:type="dcterms:W3CDTF">2026-04-23T15:06:28Z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0x010100CECA252503CEBA4F96E24E33BFD98D17</vt:lpwstr>
  </property>
</Properties>
</file>